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52"/>
  </p:normalViewPr>
  <p:slideViewPr>
    <p:cSldViewPr snapToGrid="0">
      <p:cViewPr varScale="1">
        <p:scale>
          <a:sx n="116" d="100"/>
          <a:sy n="116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927C6B-B92B-427A-942F-4B7DB1472B4D}" type="doc">
      <dgm:prSet loTypeId="urn:microsoft.com/office/officeart/2005/8/layout/list1" loCatId="list" qsTypeId="urn:microsoft.com/office/officeart/2005/8/quickstyle/simple5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6E60585-D6A4-45B9-98EB-D36845C9D2FE}">
      <dgm:prSet/>
      <dgm:spPr/>
      <dgm:t>
        <a:bodyPr/>
        <a:lstStyle/>
        <a:p>
          <a:r>
            <a:rPr lang="en-US" b="1" i="0" baseline="0"/>
            <a:t>Data Cleaning</a:t>
          </a:r>
          <a:r>
            <a:rPr lang="en-US" b="0" i="0" baseline="0"/>
            <a:t>: </a:t>
          </a:r>
          <a:endParaRPr lang="en-US"/>
        </a:p>
      </dgm:t>
    </dgm:pt>
    <dgm:pt modelId="{6842FF94-8735-49E6-A7E7-712EF1D9FB9F}" type="parTrans" cxnId="{5D18643A-7833-4280-BE4A-4AC0387D6333}">
      <dgm:prSet/>
      <dgm:spPr/>
      <dgm:t>
        <a:bodyPr/>
        <a:lstStyle/>
        <a:p>
          <a:endParaRPr lang="en-US"/>
        </a:p>
      </dgm:t>
    </dgm:pt>
    <dgm:pt modelId="{F282DAC4-404A-46F9-AF3F-1E91BE693D0C}" type="sibTrans" cxnId="{5D18643A-7833-4280-BE4A-4AC0387D6333}">
      <dgm:prSet/>
      <dgm:spPr/>
      <dgm:t>
        <a:bodyPr/>
        <a:lstStyle/>
        <a:p>
          <a:endParaRPr lang="en-US"/>
        </a:p>
      </dgm:t>
    </dgm:pt>
    <dgm:pt modelId="{D455D7E1-23B4-414B-A324-68226D4BADB3}">
      <dgm:prSet/>
      <dgm:spPr/>
      <dgm:t>
        <a:bodyPr/>
        <a:lstStyle/>
        <a:p>
          <a:r>
            <a:rPr lang="en-US" b="0" i="0" baseline="0" dirty="0"/>
            <a:t>Handled missing values and infinity values to ensure mathematical stability.</a:t>
          </a:r>
          <a:endParaRPr lang="en-US" dirty="0"/>
        </a:p>
      </dgm:t>
    </dgm:pt>
    <dgm:pt modelId="{C58DE80D-4471-4163-BE80-12CDF28694AB}" type="parTrans" cxnId="{D0318296-1704-4BF0-9F37-AB26449004F4}">
      <dgm:prSet/>
      <dgm:spPr/>
      <dgm:t>
        <a:bodyPr/>
        <a:lstStyle/>
        <a:p>
          <a:endParaRPr lang="en-US"/>
        </a:p>
      </dgm:t>
    </dgm:pt>
    <dgm:pt modelId="{6334298C-8E22-4E92-839B-4ED84BF88FE9}" type="sibTrans" cxnId="{D0318296-1704-4BF0-9F37-AB26449004F4}">
      <dgm:prSet/>
      <dgm:spPr/>
      <dgm:t>
        <a:bodyPr/>
        <a:lstStyle/>
        <a:p>
          <a:endParaRPr lang="en-US"/>
        </a:p>
      </dgm:t>
    </dgm:pt>
    <dgm:pt modelId="{704D24A6-45A2-42A6-8932-6DEF9F22C1A9}">
      <dgm:prSet/>
      <dgm:spPr/>
      <dgm:t>
        <a:bodyPr/>
        <a:lstStyle/>
        <a:p>
          <a:r>
            <a:rPr lang="en-US" b="1" i="0" baseline="0"/>
            <a:t>Feature Engineering</a:t>
          </a:r>
          <a:r>
            <a:rPr lang="en-US" b="0" i="0" baseline="0"/>
            <a:t>: </a:t>
          </a:r>
          <a:endParaRPr lang="en-US"/>
        </a:p>
      </dgm:t>
    </dgm:pt>
    <dgm:pt modelId="{356DCF40-339B-4721-B274-09A4FFE2AFE5}" type="parTrans" cxnId="{A48BA5AB-C1C5-49C9-8C55-D2716ED7F67E}">
      <dgm:prSet/>
      <dgm:spPr/>
      <dgm:t>
        <a:bodyPr/>
        <a:lstStyle/>
        <a:p>
          <a:endParaRPr lang="en-US"/>
        </a:p>
      </dgm:t>
    </dgm:pt>
    <dgm:pt modelId="{BE22A06D-8EA5-4484-A51C-4973C03E0E63}" type="sibTrans" cxnId="{A48BA5AB-C1C5-49C9-8C55-D2716ED7F67E}">
      <dgm:prSet/>
      <dgm:spPr/>
      <dgm:t>
        <a:bodyPr/>
        <a:lstStyle/>
        <a:p>
          <a:endParaRPr lang="en-US"/>
        </a:p>
      </dgm:t>
    </dgm:pt>
    <dgm:pt modelId="{2825C01E-BF88-46D1-9C4C-66C3FD78A4A8}">
      <dgm:prSet/>
      <dgm:spPr/>
      <dgm:t>
        <a:bodyPr/>
        <a:lstStyle/>
        <a:p>
          <a:r>
            <a:rPr lang="en-US" baseline="0"/>
            <a:t>Identified and removed highly correlated variables</a:t>
          </a:r>
          <a:endParaRPr lang="en-US"/>
        </a:p>
      </dgm:t>
    </dgm:pt>
    <dgm:pt modelId="{D6DC05B2-17A7-4F9D-9DE7-036EFD1C9206}" type="parTrans" cxnId="{1C082A84-FC1F-422A-96E6-F58BCCE2BD6A}">
      <dgm:prSet/>
      <dgm:spPr/>
      <dgm:t>
        <a:bodyPr/>
        <a:lstStyle/>
        <a:p>
          <a:endParaRPr lang="en-US"/>
        </a:p>
      </dgm:t>
    </dgm:pt>
    <dgm:pt modelId="{56CD2F74-45EF-434E-BF4D-A24D010FC7F3}" type="sibTrans" cxnId="{1C082A84-FC1F-422A-96E6-F58BCCE2BD6A}">
      <dgm:prSet/>
      <dgm:spPr/>
      <dgm:t>
        <a:bodyPr/>
        <a:lstStyle/>
        <a:p>
          <a:endParaRPr lang="en-US"/>
        </a:p>
      </dgm:t>
    </dgm:pt>
    <dgm:pt modelId="{92996DEC-E2CD-4EA3-AE97-F6F0D036E77F}">
      <dgm:prSet/>
      <dgm:spPr/>
      <dgm:t>
        <a:bodyPr/>
        <a:lstStyle/>
        <a:p>
          <a:r>
            <a:rPr lang="en-US" baseline="0" dirty="0"/>
            <a:t>Select key performance drivers</a:t>
          </a:r>
          <a:endParaRPr lang="en-US" dirty="0"/>
        </a:p>
      </dgm:t>
    </dgm:pt>
    <dgm:pt modelId="{DEB76D5C-EBEE-4AEC-96EE-18E68C06EECD}" type="parTrans" cxnId="{5FB553D1-8ADA-4486-A3B3-44672903A552}">
      <dgm:prSet/>
      <dgm:spPr/>
      <dgm:t>
        <a:bodyPr/>
        <a:lstStyle/>
        <a:p>
          <a:endParaRPr lang="en-US"/>
        </a:p>
      </dgm:t>
    </dgm:pt>
    <dgm:pt modelId="{DF644D5A-B483-471C-967F-5788A490A851}" type="sibTrans" cxnId="{5FB553D1-8ADA-4486-A3B3-44672903A552}">
      <dgm:prSet/>
      <dgm:spPr/>
      <dgm:t>
        <a:bodyPr/>
        <a:lstStyle/>
        <a:p>
          <a:endParaRPr lang="en-US"/>
        </a:p>
      </dgm:t>
    </dgm:pt>
    <dgm:pt modelId="{4BFF305B-63AC-4EEC-9956-C7286A2B7738}">
      <dgm:prSet/>
      <dgm:spPr/>
      <dgm:t>
        <a:bodyPr/>
        <a:lstStyle/>
        <a:p>
          <a:r>
            <a:rPr lang="en-US" b="1" i="0" baseline="0"/>
            <a:t>Transformations</a:t>
          </a:r>
          <a:r>
            <a:rPr lang="en-US" b="0" i="0" baseline="0"/>
            <a:t>: </a:t>
          </a:r>
          <a:endParaRPr lang="en-US"/>
        </a:p>
      </dgm:t>
    </dgm:pt>
    <dgm:pt modelId="{4AC1E0DE-5893-47BA-BEFB-993BAE0AE58B}" type="parTrans" cxnId="{AB5C87D6-1032-496C-90DC-0E4C53D12147}">
      <dgm:prSet/>
      <dgm:spPr/>
      <dgm:t>
        <a:bodyPr/>
        <a:lstStyle/>
        <a:p>
          <a:endParaRPr lang="en-US"/>
        </a:p>
      </dgm:t>
    </dgm:pt>
    <dgm:pt modelId="{84B70D33-5694-4E37-9E12-1FAC52BCE3AF}" type="sibTrans" cxnId="{AB5C87D6-1032-496C-90DC-0E4C53D12147}">
      <dgm:prSet/>
      <dgm:spPr/>
      <dgm:t>
        <a:bodyPr/>
        <a:lstStyle/>
        <a:p>
          <a:endParaRPr lang="en-US"/>
        </a:p>
      </dgm:t>
    </dgm:pt>
    <dgm:pt modelId="{96FEE954-F60D-4FA4-B3B2-2B7AC49AFC65}">
      <dgm:prSet/>
      <dgm:spPr/>
      <dgm:t>
        <a:bodyPr/>
        <a:lstStyle/>
        <a:p>
          <a:r>
            <a:rPr lang="en-US" b="0" i="0" baseline="0"/>
            <a:t>Applied Log-transformation to skewed numerical </a:t>
          </a:r>
          <a:r>
            <a:rPr lang="en-US" baseline="0"/>
            <a:t>features (e.g., Income) and performed Z-score normalization for scale consistency</a:t>
          </a:r>
          <a:r>
            <a:rPr lang="en-US" b="0" i="0" baseline="0"/>
            <a:t>.</a:t>
          </a:r>
          <a:endParaRPr lang="en-US"/>
        </a:p>
      </dgm:t>
    </dgm:pt>
    <dgm:pt modelId="{BEE9BB4F-07A1-4834-8094-803E66619B83}" type="parTrans" cxnId="{858268C5-FA89-4837-AE81-DE4FC8CA4CCD}">
      <dgm:prSet/>
      <dgm:spPr/>
      <dgm:t>
        <a:bodyPr/>
        <a:lstStyle/>
        <a:p>
          <a:endParaRPr lang="en-US"/>
        </a:p>
      </dgm:t>
    </dgm:pt>
    <dgm:pt modelId="{5EA1E244-7995-40FF-A2D4-FA19A7C6B87D}" type="sibTrans" cxnId="{858268C5-FA89-4837-AE81-DE4FC8CA4CCD}">
      <dgm:prSet/>
      <dgm:spPr/>
      <dgm:t>
        <a:bodyPr/>
        <a:lstStyle/>
        <a:p>
          <a:endParaRPr lang="en-US"/>
        </a:p>
      </dgm:t>
    </dgm:pt>
    <dgm:pt modelId="{92725CD8-2BC7-8041-A019-64ADCBD9B882}" type="pres">
      <dgm:prSet presAssocID="{B6927C6B-B92B-427A-942F-4B7DB1472B4D}" presName="linear" presStyleCnt="0">
        <dgm:presLayoutVars>
          <dgm:dir/>
          <dgm:animLvl val="lvl"/>
          <dgm:resizeHandles val="exact"/>
        </dgm:presLayoutVars>
      </dgm:prSet>
      <dgm:spPr/>
    </dgm:pt>
    <dgm:pt modelId="{173E8148-421C-6C4B-9D4B-5A2FFDD3A49D}" type="pres">
      <dgm:prSet presAssocID="{F6E60585-D6A4-45B9-98EB-D36845C9D2FE}" presName="parentLin" presStyleCnt="0"/>
      <dgm:spPr/>
    </dgm:pt>
    <dgm:pt modelId="{90B1F11B-3E94-CC4F-9528-9730EE940B72}" type="pres">
      <dgm:prSet presAssocID="{F6E60585-D6A4-45B9-98EB-D36845C9D2FE}" presName="parentLeftMargin" presStyleLbl="node1" presStyleIdx="0" presStyleCnt="3"/>
      <dgm:spPr/>
    </dgm:pt>
    <dgm:pt modelId="{D1BAB4E9-47D3-D744-82B6-B5B25FCDAD4F}" type="pres">
      <dgm:prSet presAssocID="{F6E60585-D6A4-45B9-98EB-D36845C9D2F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C5D2D08-A080-F249-908E-6FF8D62F36A5}" type="pres">
      <dgm:prSet presAssocID="{F6E60585-D6A4-45B9-98EB-D36845C9D2FE}" presName="negativeSpace" presStyleCnt="0"/>
      <dgm:spPr/>
    </dgm:pt>
    <dgm:pt modelId="{180E9011-CF21-0B46-8738-C4540718D57F}" type="pres">
      <dgm:prSet presAssocID="{F6E60585-D6A4-45B9-98EB-D36845C9D2FE}" presName="childText" presStyleLbl="conFgAcc1" presStyleIdx="0" presStyleCnt="3">
        <dgm:presLayoutVars>
          <dgm:bulletEnabled val="1"/>
        </dgm:presLayoutVars>
      </dgm:prSet>
      <dgm:spPr/>
    </dgm:pt>
    <dgm:pt modelId="{6BDF381F-E030-C34B-8CA2-3D55D73B1E7E}" type="pres">
      <dgm:prSet presAssocID="{F282DAC4-404A-46F9-AF3F-1E91BE693D0C}" presName="spaceBetweenRectangles" presStyleCnt="0"/>
      <dgm:spPr/>
    </dgm:pt>
    <dgm:pt modelId="{570F0542-95F4-1346-BA21-68BEF7EAA9C6}" type="pres">
      <dgm:prSet presAssocID="{704D24A6-45A2-42A6-8932-6DEF9F22C1A9}" presName="parentLin" presStyleCnt="0"/>
      <dgm:spPr/>
    </dgm:pt>
    <dgm:pt modelId="{E0664CB4-0548-C94D-A9D5-B80D3EA7D530}" type="pres">
      <dgm:prSet presAssocID="{704D24A6-45A2-42A6-8932-6DEF9F22C1A9}" presName="parentLeftMargin" presStyleLbl="node1" presStyleIdx="0" presStyleCnt="3"/>
      <dgm:spPr/>
    </dgm:pt>
    <dgm:pt modelId="{B8258310-477F-1D4B-B066-5B5224A2E2A5}" type="pres">
      <dgm:prSet presAssocID="{704D24A6-45A2-42A6-8932-6DEF9F22C1A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9859AB5-F825-3B41-963E-CD582F430348}" type="pres">
      <dgm:prSet presAssocID="{704D24A6-45A2-42A6-8932-6DEF9F22C1A9}" presName="negativeSpace" presStyleCnt="0"/>
      <dgm:spPr/>
    </dgm:pt>
    <dgm:pt modelId="{6250D683-FB5C-AF44-948D-5061BB0D9CBE}" type="pres">
      <dgm:prSet presAssocID="{704D24A6-45A2-42A6-8932-6DEF9F22C1A9}" presName="childText" presStyleLbl="conFgAcc1" presStyleIdx="1" presStyleCnt="3">
        <dgm:presLayoutVars>
          <dgm:bulletEnabled val="1"/>
        </dgm:presLayoutVars>
      </dgm:prSet>
      <dgm:spPr/>
    </dgm:pt>
    <dgm:pt modelId="{C17BB840-20E3-7E44-B055-4C4BE99AED6E}" type="pres">
      <dgm:prSet presAssocID="{BE22A06D-8EA5-4484-A51C-4973C03E0E63}" presName="spaceBetweenRectangles" presStyleCnt="0"/>
      <dgm:spPr/>
    </dgm:pt>
    <dgm:pt modelId="{84FD828A-6DCB-9247-AD95-27A4BA6E4453}" type="pres">
      <dgm:prSet presAssocID="{4BFF305B-63AC-4EEC-9956-C7286A2B7738}" presName="parentLin" presStyleCnt="0"/>
      <dgm:spPr/>
    </dgm:pt>
    <dgm:pt modelId="{9F9AB1F6-D4DA-B44F-B2DF-6C3A6D98F547}" type="pres">
      <dgm:prSet presAssocID="{4BFF305B-63AC-4EEC-9956-C7286A2B7738}" presName="parentLeftMargin" presStyleLbl="node1" presStyleIdx="1" presStyleCnt="3"/>
      <dgm:spPr/>
    </dgm:pt>
    <dgm:pt modelId="{13A3F21D-9783-934B-B1AD-02343335C5F4}" type="pres">
      <dgm:prSet presAssocID="{4BFF305B-63AC-4EEC-9956-C7286A2B7738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CA3C786-3C38-064E-B471-242BF48E5ADB}" type="pres">
      <dgm:prSet presAssocID="{4BFF305B-63AC-4EEC-9956-C7286A2B7738}" presName="negativeSpace" presStyleCnt="0"/>
      <dgm:spPr/>
    </dgm:pt>
    <dgm:pt modelId="{94A9B77B-4BC2-E448-9C35-7B7549969612}" type="pres">
      <dgm:prSet presAssocID="{4BFF305B-63AC-4EEC-9956-C7286A2B7738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D8ED6720-3114-7944-8EF5-6E653E518155}" type="presOf" srcId="{704D24A6-45A2-42A6-8932-6DEF9F22C1A9}" destId="{E0664CB4-0548-C94D-A9D5-B80D3EA7D530}" srcOrd="0" destOrd="0" presId="urn:microsoft.com/office/officeart/2005/8/layout/list1"/>
    <dgm:cxn modelId="{086F7B30-37B5-0443-B0C3-3DD8189DF232}" type="presOf" srcId="{96FEE954-F60D-4FA4-B3B2-2B7AC49AFC65}" destId="{94A9B77B-4BC2-E448-9C35-7B7549969612}" srcOrd="0" destOrd="0" presId="urn:microsoft.com/office/officeart/2005/8/layout/list1"/>
    <dgm:cxn modelId="{5D18643A-7833-4280-BE4A-4AC0387D6333}" srcId="{B6927C6B-B92B-427A-942F-4B7DB1472B4D}" destId="{F6E60585-D6A4-45B9-98EB-D36845C9D2FE}" srcOrd="0" destOrd="0" parTransId="{6842FF94-8735-49E6-A7E7-712EF1D9FB9F}" sibTransId="{F282DAC4-404A-46F9-AF3F-1E91BE693D0C}"/>
    <dgm:cxn modelId="{0C32CF64-4765-4445-BBB3-9F06AD466E4C}" type="presOf" srcId="{D455D7E1-23B4-414B-A324-68226D4BADB3}" destId="{180E9011-CF21-0B46-8738-C4540718D57F}" srcOrd="0" destOrd="0" presId="urn:microsoft.com/office/officeart/2005/8/layout/list1"/>
    <dgm:cxn modelId="{5F7B7679-76EC-4E48-8434-2EB0A4C19783}" type="presOf" srcId="{4BFF305B-63AC-4EEC-9956-C7286A2B7738}" destId="{9F9AB1F6-D4DA-B44F-B2DF-6C3A6D98F547}" srcOrd="0" destOrd="0" presId="urn:microsoft.com/office/officeart/2005/8/layout/list1"/>
    <dgm:cxn modelId="{CADD4D7E-59BB-6A45-A661-715A810E1AF4}" type="presOf" srcId="{F6E60585-D6A4-45B9-98EB-D36845C9D2FE}" destId="{D1BAB4E9-47D3-D744-82B6-B5B25FCDAD4F}" srcOrd="1" destOrd="0" presId="urn:microsoft.com/office/officeart/2005/8/layout/list1"/>
    <dgm:cxn modelId="{B864F67E-76E1-A142-99F1-2D6D3DFF7436}" type="presOf" srcId="{2825C01E-BF88-46D1-9C4C-66C3FD78A4A8}" destId="{6250D683-FB5C-AF44-948D-5061BB0D9CBE}" srcOrd="0" destOrd="0" presId="urn:microsoft.com/office/officeart/2005/8/layout/list1"/>
    <dgm:cxn modelId="{1C082A84-FC1F-422A-96E6-F58BCCE2BD6A}" srcId="{704D24A6-45A2-42A6-8932-6DEF9F22C1A9}" destId="{2825C01E-BF88-46D1-9C4C-66C3FD78A4A8}" srcOrd="0" destOrd="0" parTransId="{D6DC05B2-17A7-4F9D-9DE7-036EFD1C9206}" sibTransId="{56CD2F74-45EF-434E-BF4D-A24D010FC7F3}"/>
    <dgm:cxn modelId="{D0318296-1704-4BF0-9F37-AB26449004F4}" srcId="{F6E60585-D6A4-45B9-98EB-D36845C9D2FE}" destId="{D455D7E1-23B4-414B-A324-68226D4BADB3}" srcOrd="0" destOrd="0" parTransId="{C58DE80D-4471-4163-BE80-12CDF28694AB}" sibTransId="{6334298C-8E22-4E92-839B-4ED84BF88FE9}"/>
    <dgm:cxn modelId="{A48BA5AB-C1C5-49C9-8C55-D2716ED7F67E}" srcId="{B6927C6B-B92B-427A-942F-4B7DB1472B4D}" destId="{704D24A6-45A2-42A6-8932-6DEF9F22C1A9}" srcOrd="1" destOrd="0" parTransId="{356DCF40-339B-4721-B274-09A4FFE2AFE5}" sibTransId="{BE22A06D-8EA5-4484-A51C-4973C03E0E63}"/>
    <dgm:cxn modelId="{7FCD95C3-189A-AE4A-BFC8-EBAA27B7676F}" type="presOf" srcId="{704D24A6-45A2-42A6-8932-6DEF9F22C1A9}" destId="{B8258310-477F-1D4B-B066-5B5224A2E2A5}" srcOrd="1" destOrd="0" presId="urn:microsoft.com/office/officeart/2005/8/layout/list1"/>
    <dgm:cxn modelId="{858268C5-FA89-4837-AE81-DE4FC8CA4CCD}" srcId="{4BFF305B-63AC-4EEC-9956-C7286A2B7738}" destId="{96FEE954-F60D-4FA4-B3B2-2B7AC49AFC65}" srcOrd="0" destOrd="0" parTransId="{BEE9BB4F-07A1-4834-8094-803E66619B83}" sibTransId="{5EA1E244-7995-40FF-A2D4-FA19A7C6B87D}"/>
    <dgm:cxn modelId="{71CD2FCD-E86D-AC42-9FBC-E78337B0ACEF}" type="presOf" srcId="{B6927C6B-B92B-427A-942F-4B7DB1472B4D}" destId="{92725CD8-2BC7-8041-A019-64ADCBD9B882}" srcOrd="0" destOrd="0" presId="urn:microsoft.com/office/officeart/2005/8/layout/list1"/>
    <dgm:cxn modelId="{5FB553D1-8ADA-4486-A3B3-44672903A552}" srcId="{704D24A6-45A2-42A6-8932-6DEF9F22C1A9}" destId="{92996DEC-E2CD-4EA3-AE97-F6F0D036E77F}" srcOrd="1" destOrd="0" parTransId="{DEB76D5C-EBEE-4AEC-96EE-18E68C06EECD}" sibTransId="{DF644D5A-B483-471C-967F-5788A490A851}"/>
    <dgm:cxn modelId="{AB5C87D6-1032-496C-90DC-0E4C53D12147}" srcId="{B6927C6B-B92B-427A-942F-4B7DB1472B4D}" destId="{4BFF305B-63AC-4EEC-9956-C7286A2B7738}" srcOrd="2" destOrd="0" parTransId="{4AC1E0DE-5893-47BA-BEFB-993BAE0AE58B}" sibTransId="{84B70D33-5694-4E37-9E12-1FAC52BCE3AF}"/>
    <dgm:cxn modelId="{38F59BD9-C15D-CD45-82B8-92EFDA258191}" type="presOf" srcId="{92996DEC-E2CD-4EA3-AE97-F6F0D036E77F}" destId="{6250D683-FB5C-AF44-948D-5061BB0D9CBE}" srcOrd="0" destOrd="1" presId="urn:microsoft.com/office/officeart/2005/8/layout/list1"/>
    <dgm:cxn modelId="{0E777FE4-9E89-1D43-AABF-02135541D45E}" type="presOf" srcId="{4BFF305B-63AC-4EEC-9956-C7286A2B7738}" destId="{13A3F21D-9783-934B-B1AD-02343335C5F4}" srcOrd="1" destOrd="0" presId="urn:microsoft.com/office/officeart/2005/8/layout/list1"/>
    <dgm:cxn modelId="{348EB4FB-C9BB-3A44-84DA-4B04E19E29D9}" type="presOf" srcId="{F6E60585-D6A4-45B9-98EB-D36845C9D2FE}" destId="{90B1F11B-3E94-CC4F-9528-9730EE940B72}" srcOrd="0" destOrd="0" presId="urn:microsoft.com/office/officeart/2005/8/layout/list1"/>
    <dgm:cxn modelId="{C1B999A5-8408-C84B-AD34-4170E10C00EC}" type="presParOf" srcId="{92725CD8-2BC7-8041-A019-64ADCBD9B882}" destId="{173E8148-421C-6C4B-9D4B-5A2FFDD3A49D}" srcOrd="0" destOrd="0" presId="urn:microsoft.com/office/officeart/2005/8/layout/list1"/>
    <dgm:cxn modelId="{7BFC217C-30C9-5F4B-A2A1-7984CDA7F219}" type="presParOf" srcId="{173E8148-421C-6C4B-9D4B-5A2FFDD3A49D}" destId="{90B1F11B-3E94-CC4F-9528-9730EE940B72}" srcOrd="0" destOrd="0" presId="urn:microsoft.com/office/officeart/2005/8/layout/list1"/>
    <dgm:cxn modelId="{AC7484C9-EC38-2C4B-A917-C18179895CB4}" type="presParOf" srcId="{173E8148-421C-6C4B-9D4B-5A2FFDD3A49D}" destId="{D1BAB4E9-47D3-D744-82B6-B5B25FCDAD4F}" srcOrd="1" destOrd="0" presId="urn:microsoft.com/office/officeart/2005/8/layout/list1"/>
    <dgm:cxn modelId="{FAC55FEC-943D-224D-B646-DE6F1DB45F3D}" type="presParOf" srcId="{92725CD8-2BC7-8041-A019-64ADCBD9B882}" destId="{FC5D2D08-A080-F249-908E-6FF8D62F36A5}" srcOrd="1" destOrd="0" presId="urn:microsoft.com/office/officeart/2005/8/layout/list1"/>
    <dgm:cxn modelId="{A24598F7-3C67-7248-A513-A5853C1BC73B}" type="presParOf" srcId="{92725CD8-2BC7-8041-A019-64ADCBD9B882}" destId="{180E9011-CF21-0B46-8738-C4540718D57F}" srcOrd="2" destOrd="0" presId="urn:microsoft.com/office/officeart/2005/8/layout/list1"/>
    <dgm:cxn modelId="{817F6D95-12DA-E94D-A31A-0D3C3127B0D7}" type="presParOf" srcId="{92725CD8-2BC7-8041-A019-64ADCBD9B882}" destId="{6BDF381F-E030-C34B-8CA2-3D55D73B1E7E}" srcOrd="3" destOrd="0" presId="urn:microsoft.com/office/officeart/2005/8/layout/list1"/>
    <dgm:cxn modelId="{57E91F92-28D1-A846-8A5C-60D317CA7C19}" type="presParOf" srcId="{92725CD8-2BC7-8041-A019-64ADCBD9B882}" destId="{570F0542-95F4-1346-BA21-68BEF7EAA9C6}" srcOrd="4" destOrd="0" presId="urn:microsoft.com/office/officeart/2005/8/layout/list1"/>
    <dgm:cxn modelId="{E31BCCAD-1768-FE43-BEE8-7EE35F3B9C30}" type="presParOf" srcId="{570F0542-95F4-1346-BA21-68BEF7EAA9C6}" destId="{E0664CB4-0548-C94D-A9D5-B80D3EA7D530}" srcOrd="0" destOrd="0" presId="urn:microsoft.com/office/officeart/2005/8/layout/list1"/>
    <dgm:cxn modelId="{8BCE313D-7974-B240-952B-74CBF98F40D6}" type="presParOf" srcId="{570F0542-95F4-1346-BA21-68BEF7EAA9C6}" destId="{B8258310-477F-1D4B-B066-5B5224A2E2A5}" srcOrd="1" destOrd="0" presId="urn:microsoft.com/office/officeart/2005/8/layout/list1"/>
    <dgm:cxn modelId="{1076CF7E-EAFD-5A48-9D44-69C9087D4FD4}" type="presParOf" srcId="{92725CD8-2BC7-8041-A019-64ADCBD9B882}" destId="{C9859AB5-F825-3B41-963E-CD582F430348}" srcOrd="5" destOrd="0" presId="urn:microsoft.com/office/officeart/2005/8/layout/list1"/>
    <dgm:cxn modelId="{1927E544-7AA9-F946-9F1B-23BD2DB25C1A}" type="presParOf" srcId="{92725CD8-2BC7-8041-A019-64ADCBD9B882}" destId="{6250D683-FB5C-AF44-948D-5061BB0D9CBE}" srcOrd="6" destOrd="0" presId="urn:microsoft.com/office/officeart/2005/8/layout/list1"/>
    <dgm:cxn modelId="{25C21384-D025-844D-A5CA-CAA3C73A8ECD}" type="presParOf" srcId="{92725CD8-2BC7-8041-A019-64ADCBD9B882}" destId="{C17BB840-20E3-7E44-B055-4C4BE99AED6E}" srcOrd="7" destOrd="0" presId="urn:microsoft.com/office/officeart/2005/8/layout/list1"/>
    <dgm:cxn modelId="{25E7E426-5D2D-5948-9CF5-1DABFA6126AF}" type="presParOf" srcId="{92725CD8-2BC7-8041-A019-64ADCBD9B882}" destId="{84FD828A-6DCB-9247-AD95-27A4BA6E4453}" srcOrd="8" destOrd="0" presId="urn:microsoft.com/office/officeart/2005/8/layout/list1"/>
    <dgm:cxn modelId="{3F18AB37-182C-494E-9577-0F585B668356}" type="presParOf" srcId="{84FD828A-6DCB-9247-AD95-27A4BA6E4453}" destId="{9F9AB1F6-D4DA-B44F-B2DF-6C3A6D98F547}" srcOrd="0" destOrd="0" presId="urn:microsoft.com/office/officeart/2005/8/layout/list1"/>
    <dgm:cxn modelId="{F2407521-14A4-3D41-9759-8B0EBB56A81E}" type="presParOf" srcId="{84FD828A-6DCB-9247-AD95-27A4BA6E4453}" destId="{13A3F21D-9783-934B-B1AD-02343335C5F4}" srcOrd="1" destOrd="0" presId="urn:microsoft.com/office/officeart/2005/8/layout/list1"/>
    <dgm:cxn modelId="{72DFD460-F049-F94E-8DDA-55025CE83B2B}" type="presParOf" srcId="{92725CD8-2BC7-8041-A019-64ADCBD9B882}" destId="{0CA3C786-3C38-064E-B471-242BF48E5ADB}" srcOrd="9" destOrd="0" presId="urn:microsoft.com/office/officeart/2005/8/layout/list1"/>
    <dgm:cxn modelId="{DE70D46E-17CF-574C-A329-CA08FAC1EA08}" type="presParOf" srcId="{92725CD8-2BC7-8041-A019-64ADCBD9B882}" destId="{94A9B77B-4BC2-E448-9C35-7B754996961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1D49ECE-B368-C941-8130-90EC2FC59C6D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E3CC2D-D5E7-5D4B-8428-0928B54A5F84}">
      <dgm:prSet/>
      <dgm:spPr/>
      <dgm:t>
        <a:bodyPr/>
        <a:lstStyle/>
        <a:p>
          <a:r>
            <a:rPr lang="en-TW" b="1" i="0" baseline="0" dirty="0"/>
            <a:t>Implementation</a:t>
          </a:r>
          <a:endParaRPr lang="en-TW" dirty="0"/>
        </a:p>
      </dgm:t>
    </dgm:pt>
    <dgm:pt modelId="{90CEF350-4D61-6642-991E-36C996581B71}" type="parTrans" cxnId="{22FB37E7-FF6B-604F-95DC-143F793458C3}">
      <dgm:prSet/>
      <dgm:spPr/>
      <dgm:t>
        <a:bodyPr/>
        <a:lstStyle/>
        <a:p>
          <a:endParaRPr lang="en-US"/>
        </a:p>
      </dgm:t>
    </dgm:pt>
    <dgm:pt modelId="{BFB75219-7272-4741-A29D-D4F4674F30F2}" type="sibTrans" cxnId="{22FB37E7-FF6B-604F-95DC-143F793458C3}">
      <dgm:prSet/>
      <dgm:spPr/>
      <dgm:t>
        <a:bodyPr/>
        <a:lstStyle/>
        <a:p>
          <a:endParaRPr lang="en-US"/>
        </a:p>
      </dgm:t>
    </dgm:pt>
    <dgm:pt modelId="{F9986B98-D214-3A46-A0CF-D6FCCAFB5D6F}">
      <dgm:prSet/>
      <dgm:spPr/>
      <dgm:t>
        <a:bodyPr/>
        <a:lstStyle/>
        <a:p>
          <a:r>
            <a:rPr lang="en-TW" b="1" i="0" baseline="0" dirty="0"/>
            <a:t>Aggregation</a:t>
          </a:r>
          <a:endParaRPr lang="en-TW" dirty="0"/>
        </a:p>
      </dgm:t>
    </dgm:pt>
    <dgm:pt modelId="{18D3C6FF-07BE-1548-95CD-382C4D0CF876}" type="parTrans" cxnId="{983F6157-3172-644E-9CAD-EC39A4B7D7CB}">
      <dgm:prSet/>
      <dgm:spPr/>
      <dgm:t>
        <a:bodyPr/>
        <a:lstStyle/>
        <a:p>
          <a:endParaRPr lang="en-US"/>
        </a:p>
      </dgm:t>
    </dgm:pt>
    <dgm:pt modelId="{6BD24BF9-A1DA-7A49-9AA7-CB7D6749CA82}" type="sibTrans" cxnId="{983F6157-3172-644E-9CAD-EC39A4B7D7CB}">
      <dgm:prSet/>
      <dgm:spPr/>
      <dgm:t>
        <a:bodyPr/>
        <a:lstStyle/>
        <a:p>
          <a:endParaRPr lang="en-US"/>
        </a:p>
      </dgm:t>
    </dgm:pt>
    <dgm:pt modelId="{CD744C82-FAA6-1043-AF02-977C096ECA10}">
      <dgm:prSet/>
      <dgm:spPr/>
      <dgm:t>
        <a:bodyPr/>
        <a:lstStyle/>
        <a:p>
          <a:r>
            <a:rPr lang="en-TW" b="0" i="0" baseline="0" dirty="0"/>
            <a:t>The majority class (non-responders) was split into three distinct subsets.</a:t>
          </a:r>
          <a:endParaRPr lang="en-US" dirty="0"/>
        </a:p>
      </dgm:t>
    </dgm:pt>
    <dgm:pt modelId="{EDA52DC8-DA95-CD4D-8129-A96CC1097FF2}" type="parTrans" cxnId="{B1688A2B-F03E-A541-9EC9-38728D868CB5}">
      <dgm:prSet/>
      <dgm:spPr/>
      <dgm:t>
        <a:bodyPr/>
        <a:lstStyle/>
        <a:p>
          <a:endParaRPr lang="en-US"/>
        </a:p>
      </dgm:t>
    </dgm:pt>
    <dgm:pt modelId="{6C834759-C010-C647-868C-E3D1E4C57E22}" type="sibTrans" cxnId="{B1688A2B-F03E-A541-9EC9-38728D868CB5}">
      <dgm:prSet/>
      <dgm:spPr/>
      <dgm:t>
        <a:bodyPr/>
        <a:lstStyle/>
        <a:p>
          <a:endParaRPr lang="en-US"/>
        </a:p>
      </dgm:t>
    </dgm:pt>
    <dgm:pt modelId="{3E6ABDB4-FAE3-E44A-8C7E-5FFCA8D5ED81}">
      <dgm:prSet/>
      <dgm:spPr/>
      <dgm:t>
        <a:bodyPr/>
        <a:lstStyle/>
        <a:p>
          <a:r>
            <a:rPr lang="en-TW" b="0" i="0" baseline="0" dirty="0"/>
            <a:t>Final predictions were derived by </a:t>
          </a:r>
          <a:r>
            <a:rPr lang="en-TW" b="1" i="0" baseline="0" dirty="0"/>
            <a:t>averaging</a:t>
          </a:r>
          <a:r>
            <a:rPr lang="en-TW" b="0" i="0" baseline="0" dirty="0"/>
            <a:t> the probabilities from all three models.</a:t>
          </a:r>
          <a:endParaRPr lang="en-US" dirty="0"/>
        </a:p>
      </dgm:t>
    </dgm:pt>
    <dgm:pt modelId="{C5C7454D-2492-9C40-8EF2-5D65610DBC25}" type="parTrans" cxnId="{45E8A358-3130-974E-BE7C-70D694D98222}">
      <dgm:prSet/>
      <dgm:spPr/>
      <dgm:t>
        <a:bodyPr/>
        <a:lstStyle/>
        <a:p>
          <a:endParaRPr lang="en-US"/>
        </a:p>
      </dgm:t>
    </dgm:pt>
    <dgm:pt modelId="{DAB56433-A468-8944-BFCC-C2D90FE77C09}" type="sibTrans" cxnId="{45E8A358-3130-974E-BE7C-70D694D98222}">
      <dgm:prSet/>
      <dgm:spPr/>
      <dgm:t>
        <a:bodyPr/>
        <a:lstStyle/>
        <a:p>
          <a:endParaRPr lang="en-US"/>
        </a:p>
      </dgm:t>
    </dgm:pt>
    <dgm:pt modelId="{AA82E1F9-26B2-B54C-B9E4-AD46E95A5404}">
      <dgm:prSet/>
      <dgm:spPr/>
      <dgm:t>
        <a:bodyPr/>
        <a:lstStyle/>
        <a:p>
          <a:r>
            <a:rPr lang="en-TW" b="0" i="0" baseline="0" dirty="0"/>
            <a:t>Each was paired with the full set of minority samples (responders) to train three separate sub-models.</a:t>
          </a:r>
          <a:endParaRPr lang="en-US" dirty="0"/>
        </a:p>
      </dgm:t>
    </dgm:pt>
    <dgm:pt modelId="{D5186179-D839-7F4B-A7C1-B06FBB32CA60}" type="parTrans" cxnId="{24CD569F-B5E2-D944-AAA2-E004AC383524}">
      <dgm:prSet/>
      <dgm:spPr/>
      <dgm:t>
        <a:bodyPr/>
        <a:lstStyle/>
        <a:p>
          <a:endParaRPr lang="en-US"/>
        </a:p>
      </dgm:t>
    </dgm:pt>
    <dgm:pt modelId="{545299AE-384C-F049-8081-07E2242592D8}" type="sibTrans" cxnId="{24CD569F-B5E2-D944-AAA2-E004AC383524}">
      <dgm:prSet/>
      <dgm:spPr/>
      <dgm:t>
        <a:bodyPr/>
        <a:lstStyle/>
        <a:p>
          <a:endParaRPr lang="en-US"/>
        </a:p>
      </dgm:t>
    </dgm:pt>
    <dgm:pt modelId="{8FBB332B-1B00-5F4E-9677-6A7C11FCCAF2}" type="pres">
      <dgm:prSet presAssocID="{E1D49ECE-B368-C941-8130-90EC2FC59C6D}" presName="Name0" presStyleCnt="0">
        <dgm:presLayoutVars>
          <dgm:dir/>
          <dgm:animLvl val="lvl"/>
          <dgm:resizeHandles val="exact"/>
        </dgm:presLayoutVars>
      </dgm:prSet>
      <dgm:spPr/>
    </dgm:pt>
    <dgm:pt modelId="{5FEC9113-7ADB-CA47-8482-CBEC3B7C618F}" type="pres">
      <dgm:prSet presAssocID="{E5E3CC2D-D5E7-5D4B-8428-0928B54A5F84}" presName="composite" presStyleCnt="0"/>
      <dgm:spPr/>
    </dgm:pt>
    <dgm:pt modelId="{88D84B11-301F-E74A-93A6-1E0BFD63E348}" type="pres">
      <dgm:prSet presAssocID="{E5E3CC2D-D5E7-5D4B-8428-0928B54A5F84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D074529E-EA23-2B43-A0AE-4E9F7B098351}" type="pres">
      <dgm:prSet presAssocID="{E5E3CC2D-D5E7-5D4B-8428-0928B54A5F84}" presName="desTx" presStyleLbl="alignAccFollowNode1" presStyleIdx="0" presStyleCnt="2">
        <dgm:presLayoutVars>
          <dgm:bulletEnabled val="1"/>
        </dgm:presLayoutVars>
      </dgm:prSet>
      <dgm:spPr/>
    </dgm:pt>
    <dgm:pt modelId="{B937667D-02C8-604F-87F5-DF9DBF9BF7CA}" type="pres">
      <dgm:prSet presAssocID="{BFB75219-7272-4741-A29D-D4F4674F30F2}" presName="space" presStyleCnt="0"/>
      <dgm:spPr/>
    </dgm:pt>
    <dgm:pt modelId="{358C23B7-89C8-AF48-907F-048C5F9E5C6D}" type="pres">
      <dgm:prSet presAssocID="{F9986B98-D214-3A46-A0CF-D6FCCAFB5D6F}" presName="composite" presStyleCnt="0"/>
      <dgm:spPr/>
    </dgm:pt>
    <dgm:pt modelId="{FA042041-6541-FE49-B8AD-DE29BE439AE1}" type="pres">
      <dgm:prSet presAssocID="{F9986B98-D214-3A46-A0CF-D6FCCAFB5D6F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10D3EAC-FD93-1440-B960-7C5537B4AABC}" type="pres">
      <dgm:prSet presAssocID="{F9986B98-D214-3A46-A0CF-D6FCCAFB5D6F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670CD23-71AB-EE47-A729-9176D77AFF80}" type="presOf" srcId="{3E6ABDB4-FAE3-E44A-8C7E-5FFCA8D5ED81}" destId="{510D3EAC-FD93-1440-B960-7C5537B4AABC}" srcOrd="0" destOrd="0" presId="urn:microsoft.com/office/officeart/2005/8/layout/hList1"/>
    <dgm:cxn modelId="{B1688A2B-F03E-A541-9EC9-38728D868CB5}" srcId="{E5E3CC2D-D5E7-5D4B-8428-0928B54A5F84}" destId="{CD744C82-FAA6-1043-AF02-977C096ECA10}" srcOrd="0" destOrd="0" parTransId="{EDA52DC8-DA95-CD4D-8129-A96CC1097FF2}" sibTransId="{6C834759-C010-C647-868C-E3D1E4C57E22}"/>
    <dgm:cxn modelId="{2EBB7A39-B746-9D49-8FD3-AAD0B7551C71}" type="presOf" srcId="{F9986B98-D214-3A46-A0CF-D6FCCAFB5D6F}" destId="{FA042041-6541-FE49-B8AD-DE29BE439AE1}" srcOrd="0" destOrd="0" presId="urn:microsoft.com/office/officeart/2005/8/layout/hList1"/>
    <dgm:cxn modelId="{412F3048-7C1C-594E-9BE9-8BA77EBBF2D0}" type="presOf" srcId="{E5E3CC2D-D5E7-5D4B-8428-0928B54A5F84}" destId="{88D84B11-301F-E74A-93A6-1E0BFD63E348}" srcOrd="0" destOrd="0" presId="urn:microsoft.com/office/officeart/2005/8/layout/hList1"/>
    <dgm:cxn modelId="{F0440E54-C484-3E40-BED6-3132F3341342}" type="presOf" srcId="{E1D49ECE-B368-C941-8130-90EC2FC59C6D}" destId="{8FBB332B-1B00-5F4E-9677-6A7C11FCCAF2}" srcOrd="0" destOrd="0" presId="urn:microsoft.com/office/officeart/2005/8/layout/hList1"/>
    <dgm:cxn modelId="{983F6157-3172-644E-9CAD-EC39A4B7D7CB}" srcId="{E1D49ECE-B368-C941-8130-90EC2FC59C6D}" destId="{F9986B98-D214-3A46-A0CF-D6FCCAFB5D6F}" srcOrd="1" destOrd="0" parTransId="{18D3C6FF-07BE-1548-95CD-382C4D0CF876}" sibTransId="{6BD24BF9-A1DA-7A49-9AA7-CB7D6749CA82}"/>
    <dgm:cxn modelId="{45E8A358-3130-974E-BE7C-70D694D98222}" srcId="{F9986B98-D214-3A46-A0CF-D6FCCAFB5D6F}" destId="{3E6ABDB4-FAE3-E44A-8C7E-5FFCA8D5ED81}" srcOrd="0" destOrd="0" parTransId="{C5C7454D-2492-9C40-8EF2-5D65610DBC25}" sibTransId="{DAB56433-A468-8944-BFCC-C2D90FE77C09}"/>
    <dgm:cxn modelId="{49C45F5D-243D-974E-9BB6-51D214F4D83E}" type="presOf" srcId="{CD744C82-FAA6-1043-AF02-977C096ECA10}" destId="{D074529E-EA23-2B43-A0AE-4E9F7B098351}" srcOrd="0" destOrd="0" presId="urn:microsoft.com/office/officeart/2005/8/layout/hList1"/>
    <dgm:cxn modelId="{24CD569F-B5E2-D944-AAA2-E004AC383524}" srcId="{E5E3CC2D-D5E7-5D4B-8428-0928B54A5F84}" destId="{AA82E1F9-26B2-B54C-B9E4-AD46E95A5404}" srcOrd="1" destOrd="0" parTransId="{D5186179-D839-7F4B-A7C1-B06FBB32CA60}" sibTransId="{545299AE-384C-F049-8081-07E2242592D8}"/>
    <dgm:cxn modelId="{75C5E4BE-749E-7644-9727-1A3123E22581}" type="presOf" srcId="{AA82E1F9-26B2-B54C-B9E4-AD46E95A5404}" destId="{D074529E-EA23-2B43-A0AE-4E9F7B098351}" srcOrd="0" destOrd="1" presId="urn:microsoft.com/office/officeart/2005/8/layout/hList1"/>
    <dgm:cxn modelId="{22FB37E7-FF6B-604F-95DC-143F793458C3}" srcId="{E1D49ECE-B368-C941-8130-90EC2FC59C6D}" destId="{E5E3CC2D-D5E7-5D4B-8428-0928B54A5F84}" srcOrd="0" destOrd="0" parTransId="{90CEF350-4D61-6642-991E-36C996581B71}" sibTransId="{BFB75219-7272-4741-A29D-D4F4674F30F2}"/>
    <dgm:cxn modelId="{6C2C1759-757B-1741-8E3E-CECED75A5086}" type="presParOf" srcId="{8FBB332B-1B00-5F4E-9677-6A7C11FCCAF2}" destId="{5FEC9113-7ADB-CA47-8482-CBEC3B7C618F}" srcOrd="0" destOrd="0" presId="urn:microsoft.com/office/officeart/2005/8/layout/hList1"/>
    <dgm:cxn modelId="{6DEA4FBF-C612-354D-A31E-8F515646D6FC}" type="presParOf" srcId="{5FEC9113-7ADB-CA47-8482-CBEC3B7C618F}" destId="{88D84B11-301F-E74A-93A6-1E0BFD63E348}" srcOrd="0" destOrd="0" presId="urn:microsoft.com/office/officeart/2005/8/layout/hList1"/>
    <dgm:cxn modelId="{F8258233-B406-8147-929E-35535F2C39F8}" type="presParOf" srcId="{5FEC9113-7ADB-CA47-8482-CBEC3B7C618F}" destId="{D074529E-EA23-2B43-A0AE-4E9F7B098351}" srcOrd="1" destOrd="0" presId="urn:microsoft.com/office/officeart/2005/8/layout/hList1"/>
    <dgm:cxn modelId="{85854FC1-75C8-1849-9194-B80367914F22}" type="presParOf" srcId="{8FBB332B-1B00-5F4E-9677-6A7C11FCCAF2}" destId="{B937667D-02C8-604F-87F5-DF9DBF9BF7CA}" srcOrd="1" destOrd="0" presId="urn:microsoft.com/office/officeart/2005/8/layout/hList1"/>
    <dgm:cxn modelId="{F65AECAC-48F3-614A-9E8D-64185C0DBD09}" type="presParOf" srcId="{8FBB332B-1B00-5F4E-9677-6A7C11FCCAF2}" destId="{358C23B7-89C8-AF48-907F-048C5F9E5C6D}" srcOrd="2" destOrd="0" presId="urn:microsoft.com/office/officeart/2005/8/layout/hList1"/>
    <dgm:cxn modelId="{BF29F66C-C58C-7942-982C-BFFABCB73166}" type="presParOf" srcId="{358C23B7-89C8-AF48-907F-048C5F9E5C6D}" destId="{FA042041-6541-FE49-B8AD-DE29BE439AE1}" srcOrd="0" destOrd="0" presId="urn:microsoft.com/office/officeart/2005/8/layout/hList1"/>
    <dgm:cxn modelId="{D9C390AB-87CA-4847-9074-7C8BC575DE2C}" type="presParOf" srcId="{358C23B7-89C8-AF48-907F-048C5F9E5C6D}" destId="{510D3EAC-FD93-1440-B960-7C5537B4AABC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E9011-CF21-0B46-8738-C4540718D57F}">
      <dsp:nvSpPr>
        <dsp:cNvPr id="0" name=""/>
        <dsp:cNvSpPr/>
      </dsp:nvSpPr>
      <dsp:spPr>
        <a:xfrm>
          <a:off x="0" y="392091"/>
          <a:ext cx="4172212" cy="716625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23810" tIns="270764" rIns="323810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i="0" kern="1200" baseline="0" dirty="0"/>
            <a:t>Handled missing values and infinity values to ensure mathematical stability.</a:t>
          </a:r>
          <a:endParaRPr lang="en-US" sz="1300" kern="1200" dirty="0"/>
        </a:p>
      </dsp:txBody>
      <dsp:txXfrm>
        <a:off x="0" y="392091"/>
        <a:ext cx="4172212" cy="716625"/>
      </dsp:txXfrm>
    </dsp:sp>
    <dsp:sp modelId="{D1BAB4E9-47D3-D744-82B6-B5B25FCDAD4F}">
      <dsp:nvSpPr>
        <dsp:cNvPr id="0" name=""/>
        <dsp:cNvSpPr/>
      </dsp:nvSpPr>
      <dsp:spPr>
        <a:xfrm>
          <a:off x="208610" y="200211"/>
          <a:ext cx="2920548" cy="3837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>
          <a:outerShdw blurRad="50800" dist="50800" dir="5400000" sx="96000" sy="96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1080000"/>
          </a:lightRig>
        </a:scene3d>
        <a:sp3d>
          <a:bevelT w="381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0390" tIns="0" rIns="1103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0" kern="1200" baseline="0"/>
            <a:t>Data Cleaning</a:t>
          </a:r>
          <a:r>
            <a:rPr lang="en-US" sz="1300" b="0" i="0" kern="1200" baseline="0"/>
            <a:t>: </a:t>
          </a:r>
          <a:endParaRPr lang="en-US" sz="1300" kern="1200"/>
        </a:p>
      </dsp:txBody>
      <dsp:txXfrm>
        <a:off x="227344" y="218945"/>
        <a:ext cx="2883080" cy="346292"/>
      </dsp:txXfrm>
    </dsp:sp>
    <dsp:sp modelId="{6250D683-FB5C-AF44-948D-5061BB0D9CBE}">
      <dsp:nvSpPr>
        <dsp:cNvPr id="0" name=""/>
        <dsp:cNvSpPr/>
      </dsp:nvSpPr>
      <dsp:spPr>
        <a:xfrm>
          <a:off x="0" y="1370796"/>
          <a:ext cx="4172212" cy="7370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23810" tIns="270764" rIns="323810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baseline="0"/>
            <a:t>Identified and removed highly correlated variables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baseline="0" dirty="0"/>
            <a:t>Select key performance drivers</a:t>
          </a:r>
          <a:endParaRPr lang="en-US" sz="1300" kern="1200" dirty="0"/>
        </a:p>
      </dsp:txBody>
      <dsp:txXfrm>
        <a:off x="0" y="1370796"/>
        <a:ext cx="4172212" cy="737099"/>
      </dsp:txXfrm>
    </dsp:sp>
    <dsp:sp modelId="{B8258310-477F-1D4B-B066-5B5224A2E2A5}">
      <dsp:nvSpPr>
        <dsp:cNvPr id="0" name=""/>
        <dsp:cNvSpPr/>
      </dsp:nvSpPr>
      <dsp:spPr>
        <a:xfrm>
          <a:off x="208610" y="1178916"/>
          <a:ext cx="2920548" cy="3837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>
          <a:outerShdw blurRad="50800" dist="50800" dir="5400000" sx="96000" sy="96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1080000"/>
          </a:lightRig>
        </a:scene3d>
        <a:sp3d>
          <a:bevelT w="381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0390" tIns="0" rIns="1103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0" kern="1200" baseline="0"/>
            <a:t>Feature Engineering</a:t>
          </a:r>
          <a:r>
            <a:rPr lang="en-US" sz="1300" b="0" i="0" kern="1200" baseline="0"/>
            <a:t>: </a:t>
          </a:r>
          <a:endParaRPr lang="en-US" sz="1300" kern="1200"/>
        </a:p>
      </dsp:txBody>
      <dsp:txXfrm>
        <a:off x="227344" y="1197650"/>
        <a:ext cx="2883080" cy="346292"/>
      </dsp:txXfrm>
    </dsp:sp>
    <dsp:sp modelId="{94A9B77B-4BC2-E448-9C35-7B7549969612}">
      <dsp:nvSpPr>
        <dsp:cNvPr id="0" name=""/>
        <dsp:cNvSpPr/>
      </dsp:nvSpPr>
      <dsp:spPr>
        <a:xfrm>
          <a:off x="0" y="2369976"/>
          <a:ext cx="4172212" cy="880424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23810" tIns="270764" rIns="323810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i="0" kern="1200" baseline="0"/>
            <a:t>Applied Log-transformation to skewed numerical </a:t>
          </a:r>
          <a:r>
            <a:rPr lang="en-US" sz="1300" kern="1200" baseline="0"/>
            <a:t>features (e.g., Income) and performed Z-score normalization for scale consistency</a:t>
          </a:r>
          <a:r>
            <a:rPr lang="en-US" sz="1300" b="0" i="0" kern="1200" baseline="0"/>
            <a:t>.</a:t>
          </a:r>
          <a:endParaRPr lang="en-US" sz="1300" kern="1200"/>
        </a:p>
      </dsp:txBody>
      <dsp:txXfrm>
        <a:off x="0" y="2369976"/>
        <a:ext cx="4172212" cy="880424"/>
      </dsp:txXfrm>
    </dsp:sp>
    <dsp:sp modelId="{13A3F21D-9783-934B-B1AD-02343335C5F4}">
      <dsp:nvSpPr>
        <dsp:cNvPr id="0" name=""/>
        <dsp:cNvSpPr/>
      </dsp:nvSpPr>
      <dsp:spPr>
        <a:xfrm>
          <a:off x="208610" y="2178096"/>
          <a:ext cx="2920548" cy="3837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>
          <a:outerShdw blurRad="50800" dist="50800" dir="5400000" sx="96000" sy="96000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balanced" dir="t">
            <a:rot lat="0" lon="0" rev="1080000"/>
          </a:lightRig>
        </a:scene3d>
        <a:sp3d>
          <a:bevelT w="381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0390" tIns="0" rIns="1103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i="0" kern="1200" baseline="0"/>
            <a:t>Transformations</a:t>
          </a:r>
          <a:r>
            <a:rPr lang="en-US" sz="1300" b="0" i="0" kern="1200" baseline="0"/>
            <a:t>: </a:t>
          </a:r>
          <a:endParaRPr lang="en-US" sz="1300" kern="1200"/>
        </a:p>
      </dsp:txBody>
      <dsp:txXfrm>
        <a:off x="227344" y="2196830"/>
        <a:ext cx="2883080" cy="3462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D84B11-301F-E74A-93A6-1E0BFD63E348}">
      <dsp:nvSpPr>
        <dsp:cNvPr id="0" name=""/>
        <dsp:cNvSpPr/>
      </dsp:nvSpPr>
      <dsp:spPr>
        <a:xfrm>
          <a:off x="46" y="29105"/>
          <a:ext cx="4487981" cy="604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TW" sz="2100" b="1" i="0" kern="1200" baseline="0" dirty="0"/>
            <a:t>Implementation</a:t>
          </a:r>
          <a:endParaRPr lang="en-TW" sz="2100" kern="1200" dirty="0"/>
        </a:p>
      </dsp:txBody>
      <dsp:txXfrm>
        <a:off x="46" y="29105"/>
        <a:ext cx="4487981" cy="604800"/>
      </dsp:txXfrm>
    </dsp:sp>
    <dsp:sp modelId="{D074529E-EA23-2B43-A0AE-4E9F7B098351}">
      <dsp:nvSpPr>
        <dsp:cNvPr id="0" name=""/>
        <dsp:cNvSpPr/>
      </dsp:nvSpPr>
      <dsp:spPr>
        <a:xfrm>
          <a:off x="46" y="633905"/>
          <a:ext cx="4487981" cy="1729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TW" sz="2100" b="0" i="0" kern="1200" baseline="0" dirty="0"/>
            <a:t>The majority class (non-responders) was split into three distinct subsets.</a:t>
          </a:r>
          <a:endParaRPr lang="en-US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TW" sz="2100" b="0" i="0" kern="1200" baseline="0" dirty="0"/>
            <a:t>Each was paired with the full set of minority samples (responders) to train three separate sub-models.</a:t>
          </a:r>
          <a:endParaRPr lang="en-US" sz="2100" kern="1200" dirty="0"/>
        </a:p>
      </dsp:txBody>
      <dsp:txXfrm>
        <a:off x="46" y="633905"/>
        <a:ext cx="4487981" cy="1729350"/>
      </dsp:txXfrm>
    </dsp:sp>
    <dsp:sp modelId="{FA042041-6541-FE49-B8AD-DE29BE439AE1}">
      <dsp:nvSpPr>
        <dsp:cNvPr id="0" name=""/>
        <dsp:cNvSpPr/>
      </dsp:nvSpPr>
      <dsp:spPr>
        <a:xfrm>
          <a:off x="5116346" y="29105"/>
          <a:ext cx="4487981" cy="604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TW" sz="2100" b="1" i="0" kern="1200" baseline="0" dirty="0"/>
            <a:t>Aggregation</a:t>
          </a:r>
          <a:endParaRPr lang="en-TW" sz="2100" kern="1200" dirty="0"/>
        </a:p>
      </dsp:txBody>
      <dsp:txXfrm>
        <a:off x="5116346" y="29105"/>
        <a:ext cx="4487981" cy="604800"/>
      </dsp:txXfrm>
    </dsp:sp>
    <dsp:sp modelId="{510D3EAC-FD93-1440-B960-7C5537B4AABC}">
      <dsp:nvSpPr>
        <dsp:cNvPr id="0" name=""/>
        <dsp:cNvSpPr/>
      </dsp:nvSpPr>
      <dsp:spPr>
        <a:xfrm>
          <a:off x="5116346" y="633905"/>
          <a:ext cx="4487981" cy="1729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TW" sz="2100" b="0" i="0" kern="1200" baseline="0" dirty="0"/>
            <a:t>Final predictions were derived by </a:t>
          </a:r>
          <a:r>
            <a:rPr lang="en-TW" sz="2100" b="1" i="0" kern="1200" baseline="0" dirty="0"/>
            <a:t>averaging</a:t>
          </a:r>
          <a:r>
            <a:rPr lang="en-TW" sz="2100" b="0" i="0" kern="1200" baseline="0" dirty="0"/>
            <a:t> the probabilities from all three models.</a:t>
          </a:r>
          <a:endParaRPr lang="en-US" sz="2100" kern="1200" dirty="0"/>
        </a:p>
      </dsp:txBody>
      <dsp:txXfrm>
        <a:off x="5116346" y="633905"/>
        <a:ext cx="4487981" cy="17293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2/4/26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TW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jp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28760-0D73-5A3D-1A7C-029A303A61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W" dirty="0"/>
              <a:t>iFood Marketing Prediction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7E71DE-8578-7037-BCCE-02EEBC7443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2727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910ED-38AA-D4D0-58FC-7CF35EDB3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Executive Summary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603C5-F281-8B2D-2A60-7CBE050DF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Problem Statement</a:t>
            </a:r>
            <a:r>
              <a:rPr lang="en-US" dirty="0"/>
              <a:t>: In retail marketing, the opportunity cost of missing a potential customer is significantly higher than the marginal cost of sending an additional advertisement. Therefore, a high-sensitivity model is required.</a:t>
            </a:r>
          </a:p>
          <a:p>
            <a:r>
              <a:rPr lang="en-US" b="1" dirty="0"/>
              <a:t>Objective</a:t>
            </a:r>
            <a:r>
              <a:rPr lang="en-US" dirty="0"/>
              <a:t>: To develop a predictive model using machine learning to identify customers with a high probability of responding to the next campaign based on their demographics, purchasing behavior, and historical engagement.</a:t>
            </a:r>
          </a:p>
          <a:p>
            <a:r>
              <a:rPr lang="en-US" b="1" dirty="0"/>
              <a:t>Primary KPI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Recall</a:t>
            </a:r>
            <a:r>
              <a:rPr lang="en-US" dirty="0"/>
              <a:t>: The main metric (Ensuring we capture as many responders as possible).</a:t>
            </a:r>
          </a:p>
          <a:p>
            <a:pPr lvl="1"/>
            <a:r>
              <a:rPr lang="en-US" b="1" dirty="0"/>
              <a:t>AUC-ROC</a:t>
            </a:r>
            <a:r>
              <a:rPr lang="en-US" dirty="0"/>
              <a:t>: The auxiliary metric (Validating the model's overall ranking and discrimination power).</a:t>
            </a:r>
          </a:p>
          <a:p>
            <a:r>
              <a:rPr lang="en-US" dirty="0"/>
              <a:t>Data Set: https://</a:t>
            </a:r>
            <a:r>
              <a:rPr lang="en-US" dirty="0" err="1"/>
              <a:t>www.kaggle.com</a:t>
            </a:r>
            <a:r>
              <a:rPr lang="en-US" dirty="0"/>
              <a:t>/datasets/</a:t>
            </a:r>
            <a:r>
              <a:rPr lang="en-US" dirty="0" err="1"/>
              <a:t>jackdaoud</a:t>
            </a:r>
            <a:r>
              <a:rPr lang="en-US" dirty="0"/>
              <a:t>/marketing-data/</a:t>
            </a:r>
            <a:r>
              <a:rPr lang="en-US" dirty="0" err="1"/>
              <a:t>data?select</a:t>
            </a:r>
            <a:r>
              <a:rPr lang="en-US" dirty="0"/>
              <a:t>=</a:t>
            </a:r>
            <a:r>
              <a:rPr lang="en-US" dirty="0" err="1"/>
              <a:t>ifood_df.csv</a:t>
            </a:r>
            <a:endParaRPr lang="en-US" dirty="0"/>
          </a:p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3454389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5C3D674-3D59-4E93-80CA-0C0A9095E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84B8F8-FDC9-498B-9960-5D7260AF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417737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C770460-1E05-96A9-FE5F-6D12791F1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20"/>
            <a:ext cx="4176511" cy="1049235"/>
          </a:xfrm>
        </p:spPr>
        <p:txBody>
          <a:bodyPr>
            <a:normAutofit/>
          </a:bodyPr>
          <a:lstStyle/>
          <a:p>
            <a:r>
              <a:rPr lang="en-US" sz="2200"/>
              <a:t>Execution Process - Data Exploration &amp; Pre-processing (EDA)</a:t>
            </a:r>
            <a:endParaRPr lang="en-TW" sz="22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2A81E1-BCBE-426B-8C09-33274E69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4CFF90-D78E-5334-0600-06C3294EA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922367"/>
            <a:ext cx="4960442" cy="442719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9D1DDD4-5BB3-45BA-B9B3-06B62299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24DAE64-2302-42EA-8239-F2F0775CA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381E765D-E984-D109-C4FC-B3F535ECD3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4623376"/>
              </p:ext>
            </p:extLst>
          </p:nvPr>
        </p:nvGraphicFramePr>
        <p:xfrm>
          <a:off x="1451581" y="2015732"/>
          <a:ext cx="4172212" cy="3450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583878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5C3D674-3D59-4E93-80CA-0C0A9095E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884B8F8-FDC9-498B-9960-5D7260AF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417737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B2D0FFB-BB4C-1C66-D083-54C76F1E3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20"/>
            <a:ext cx="4176511" cy="1049235"/>
          </a:xfrm>
        </p:spPr>
        <p:txBody>
          <a:bodyPr>
            <a:normAutofit/>
          </a:bodyPr>
          <a:lstStyle/>
          <a:p>
            <a:r>
              <a:rPr lang="en-US" dirty="0"/>
              <a:t>Model Selection</a:t>
            </a:r>
            <a:endParaRPr lang="en-TW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2A81E1-BCBE-426B-8C09-33274E69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8E08D54-18D5-5FE1-1A75-271340A159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81" y="2015732"/>
            <a:ext cx="4172212" cy="345061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 comparative analysis was performed across several industry-standard algorithms: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Random Forest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Established a robust baseline.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XGBoost / LightGBM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Demonstrated high precision but remained conservative in capturing the minority class (responders) under imbalanced conditions.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CatBoost (Selected)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Emerged as the winner due to its superior handling of categorical features and symmetric tree structure, which yielded the highest </a:t>
            </a:r>
            <a:r>
              <a:rPr kumimoji="0" lang="en-TW" altLang="en-TW" sz="1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Recall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 rates.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9D1DDD4-5BB3-45BA-B9B3-06B62299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4DAE64-2302-42EA-8239-F2F0775CA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074070F-5338-AD9A-7FAE-7D996B4904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078719"/>
              </p:ext>
            </p:extLst>
          </p:nvPr>
        </p:nvGraphicFramePr>
        <p:xfrm>
          <a:off x="6496092" y="2015732"/>
          <a:ext cx="4823306" cy="2878034"/>
        </p:xfrm>
        <a:graphic>
          <a:graphicData uri="http://schemas.openxmlformats.org/drawingml/2006/table">
            <a:tbl>
              <a:tblPr/>
              <a:tblGrid>
                <a:gridCol w="1146948">
                  <a:extLst>
                    <a:ext uri="{9D8B030D-6E8A-4147-A177-3AD203B41FA5}">
                      <a16:colId xmlns:a16="http://schemas.microsoft.com/office/drawing/2014/main" val="3719762264"/>
                    </a:ext>
                  </a:extLst>
                </a:gridCol>
                <a:gridCol w="1040968">
                  <a:extLst>
                    <a:ext uri="{9D8B030D-6E8A-4147-A177-3AD203B41FA5}">
                      <a16:colId xmlns:a16="http://schemas.microsoft.com/office/drawing/2014/main" val="936293808"/>
                    </a:ext>
                  </a:extLst>
                </a:gridCol>
                <a:gridCol w="1594422">
                  <a:extLst>
                    <a:ext uri="{9D8B030D-6E8A-4147-A177-3AD203B41FA5}">
                      <a16:colId xmlns:a16="http://schemas.microsoft.com/office/drawing/2014/main" val="659101908"/>
                    </a:ext>
                  </a:extLst>
                </a:gridCol>
                <a:gridCol w="1040968">
                  <a:extLst>
                    <a:ext uri="{9D8B030D-6E8A-4147-A177-3AD203B41FA5}">
                      <a16:colId xmlns:a16="http://schemas.microsoft.com/office/drawing/2014/main" val="78179435"/>
                    </a:ext>
                  </a:extLst>
                </a:gridCol>
              </a:tblGrid>
              <a:tr h="74118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br>
                        <a:rPr lang="en-US" sz="1600" b="0" i="0" u="none" strike="noStrike" dirty="0">
                          <a:effectLst/>
                          <a:latin typeface="Helvetica" panose="020B0604020202020204" pitchFamily="34" charset="0"/>
                        </a:rPr>
                      </a:b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XGBoost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D32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RandomForest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D32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Catboost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D3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207984"/>
                  </a:ext>
                </a:extLst>
              </a:tr>
              <a:tr h="52809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F1 Score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0.5505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0.67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0.61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9373072"/>
                  </a:ext>
                </a:extLst>
              </a:tr>
              <a:tr h="43378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Precision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FD8008"/>
                          </a:solidFill>
                          <a:effectLst/>
                          <a:latin typeface="Helvetica Neue" panose="02000503000000020004"/>
                        </a:rPr>
                        <a:t>0.7143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0.47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0.55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5226159"/>
                  </a:ext>
                </a:extLst>
              </a:tr>
              <a:tr h="43378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Recall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0.4478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0.36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FD8008"/>
                          </a:solidFill>
                          <a:effectLst/>
                          <a:latin typeface="Helvetica Neue" panose="02000503000000020004"/>
                        </a:rPr>
                        <a:t>0.70</a:t>
                      </a:r>
                      <a:endParaRPr lang="en-US" sz="16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148458"/>
                  </a:ext>
                </a:extLst>
              </a:tr>
              <a:tr h="74118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AUC Score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0.8944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0.8753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0.9092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424186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9555B21-09DE-90E6-EDBC-7D3B42548B19}"/>
              </a:ext>
            </a:extLst>
          </p:cNvPr>
          <p:cNvSpPr/>
          <p:nvPr/>
        </p:nvSpPr>
        <p:spPr>
          <a:xfrm>
            <a:off x="10267720" y="2015732"/>
            <a:ext cx="1051678" cy="287803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63575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6154-1808-1833-02F1-09EE13D6D2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22325" y="250359"/>
            <a:ext cx="9604375" cy="1049337"/>
          </a:xfrm>
        </p:spPr>
        <p:txBody>
          <a:bodyPr/>
          <a:lstStyle/>
          <a:p>
            <a:r>
              <a:rPr lang="en-US" dirty="0"/>
              <a:t>Optimization: Ensemble </a:t>
            </a:r>
            <a:r>
              <a:rPr lang="en-US" dirty="0" err="1"/>
              <a:t>Undersampling</a:t>
            </a:r>
            <a:endParaRPr lang="en-TW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79B28D3-DACB-AE3E-B2B5-9C20F1DC8432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89548296"/>
              </p:ext>
            </p:extLst>
          </p:nvPr>
        </p:nvGraphicFramePr>
        <p:xfrm>
          <a:off x="1063625" y="1506538"/>
          <a:ext cx="9604375" cy="23923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FE46368-920A-C65A-74E2-3BE2786AFA49}"/>
              </a:ext>
            </a:extLst>
          </p:cNvPr>
          <p:cNvSpPr txBox="1"/>
          <p:nvPr/>
        </p:nvSpPr>
        <p:spPr>
          <a:xfrm>
            <a:off x="823425" y="775027"/>
            <a:ext cx="96032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/>
              <a:t>To address the severe class imbalance (approx. 1:6 ratio), an </a:t>
            </a:r>
            <a:r>
              <a:rPr lang="en-TW" b="1" dirty="0"/>
              <a:t>Ensemble Undersampling</a:t>
            </a:r>
            <a:r>
              <a:rPr lang="en-TW" dirty="0"/>
              <a:t> strategy was implemented:</a:t>
            </a:r>
          </a:p>
          <a:p>
            <a:endParaRPr lang="en-TW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76F0B-6F9A-97A6-3773-EC03BFC841DD}"/>
              </a:ext>
            </a:extLst>
          </p:cNvPr>
          <p:cNvSpPr txBox="1"/>
          <p:nvPr/>
        </p:nvSpPr>
        <p:spPr>
          <a:xfrm>
            <a:off x="779689" y="4151133"/>
            <a:ext cx="59076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TW" b="1" i="0" baseline="0" dirty="0"/>
              <a:t>Observation</a:t>
            </a:r>
            <a:r>
              <a:rPr lang="en-TW" b="0" i="0" baseline="0" dirty="0"/>
              <a:t>: This approach improved model stability and generalization. While the improvement over a single CatBoost model was marginal, it ensured a more comprehensive learning of the majority class distribution.</a:t>
            </a:r>
            <a:endParaRPr lang="en-TW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17E78DE-8E14-B96B-09C6-BC3094CDB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683864"/>
              </p:ext>
            </p:extLst>
          </p:nvPr>
        </p:nvGraphicFramePr>
        <p:xfrm>
          <a:off x="7404368" y="4267647"/>
          <a:ext cx="3164328" cy="1463695"/>
        </p:xfrm>
        <a:graphic>
          <a:graphicData uri="http://schemas.openxmlformats.org/drawingml/2006/table">
            <a:tbl>
              <a:tblPr/>
              <a:tblGrid>
                <a:gridCol w="1038072">
                  <a:extLst>
                    <a:ext uri="{9D8B030D-6E8A-4147-A177-3AD203B41FA5}">
                      <a16:colId xmlns:a16="http://schemas.microsoft.com/office/drawing/2014/main" val="2122366331"/>
                    </a:ext>
                  </a:extLst>
                </a:gridCol>
                <a:gridCol w="1063128">
                  <a:extLst>
                    <a:ext uri="{9D8B030D-6E8A-4147-A177-3AD203B41FA5}">
                      <a16:colId xmlns:a16="http://schemas.microsoft.com/office/drawing/2014/main" val="208554678"/>
                    </a:ext>
                  </a:extLst>
                </a:gridCol>
                <a:gridCol w="1063128">
                  <a:extLst>
                    <a:ext uri="{9D8B030D-6E8A-4147-A177-3AD203B41FA5}">
                      <a16:colId xmlns:a16="http://schemas.microsoft.com/office/drawing/2014/main" val="1771882554"/>
                    </a:ext>
                  </a:extLst>
                </a:gridCol>
              </a:tblGrid>
              <a:tr h="21627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br>
                        <a:rPr lang="en-US" sz="1200" b="0" i="0" u="none" strike="noStrike" dirty="0">
                          <a:effectLst/>
                          <a:latin typeface="Helvetica" panose="020B0604020202020204" pitchFamily="34" charset="0"/>
                        </a:rPr>
                      </a:b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D32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Original</a:t>
                      </a:r>
                      <a:endParaRPr lang="en-US" sz="14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D32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Ensemble</a:t>
                      </a:r>
                      <a:endParaRPr lang="en-US" sz="14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D3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3693527"/>
                  </a:ext>
                </a:extLst>
              </a:tr>
              <a:tr h="20298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F1 Score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0.61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0.6289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994551"/>
                  </a:ext>
                </a:extLst>
              </a:tr>
              <a:tr h="20298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Precision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0.55</a:t>
                      </a:r>
                      <a:endParaRPr lang="en-US" sz="12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0.5435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935080"/>
                  </a:ext>
                </a:extLst>
              </a:tr>
              <a:tr h="20298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Recall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Helvetica Neue" panose="02000503000000020004"/>
                        </a:rPr>
                        <a:t>0.70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Helvetica Neue" panose="02000503000000020004"/>
                        </a:rPr>
                        <a:t>0.7463</a:t>
                      </a:r>
                      <a:endParaRPr 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55402"/>
                  </a:ext>
                </a:extLst>
              </a:tr>
              <a:tr h="34683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AUC Score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0.9092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Helvetica Neue" panose="02000503000000020004"/>
                        </a:rPr>
                        <a:t>0.9090</a:t>
                      </a:r>
                      <a:endParaRPr lang="en-US" sz="12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5308" marR="25308" marT="25308" marB="25308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7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75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5C3D674-3D59-4E93-80CA-0C0A9095E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884B8F8-FDC9-498B-9960-5D7260AF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417737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D739AE8-719D-179F-6DDD-9A817F51F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20"/>
            <a:ext cx="4176511" cy="1049235"/>
          </a:xfrm>
        </p:spPr>
        <p:txBody>
          <a:bodyPr>
            <a:normAutofit/>
          </a:bodyPr>
          <a:lstStyle/>
          <a:p>
            <a:r>
              <a:rPr lang="en-US" dirty="0"/>
              <a:t>Results and Analysis</a:t>
            </a:r>
            <a:endParaRPr lang="en-TW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2A81E1-BCBE-426B-8C09-33274E69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577F34-4C04-7ADD-C35E-D2ABA4BA14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81" y="2015732"/>
            <a:ext cx="4172212" cy="345061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en-TW" altLang="en-TW" sz="1400" b="1" dirty="0">
                <a:latin typeface="Arial" panose="020B0604020202020204" pitchFamily="34" charset="0"/>
              </a:rPr>
              <a:t>Model Performance Metrics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en-TW" altLang="en-TW" sz="1400" b="1" dirty="0">
                <a:latin typeface="Arial" panose="020B0604020202020204" pitchFamily="34" charset="0"/>
              </a:rPr>
              <a:t>Recall Rate: 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Achieved the highest level using the </a:t>
            </a:r>
            <a:r>
              <a:rPr kumimoji="0" lang="en-TW" altLang="en-TW" sz="14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CatBoost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Ensemble, successfully identifying the vast majority of potential responders.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AUC Score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Consistently maintained above </a:t>
            </a:r>
            <a:r>
              <a:rPr kumimoji="0" lang="en-TW" altLang="en-TW" sz="14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0.90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proving excellent discriminatory power.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Confusion Matrix Analysis</a:t>
            </a:r>
            <a:r>
              <a:rPr kumimoji="0" lang="en-TW" altLang="en-TW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Under the assumption of an "ample budget," we successfully optimized for the "Cost of Omission," accepting a higher number of False Positives to ensure the lowest possible False Negatives.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TW" altLang="en-TW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Graphic 7" descr="Bar chart">
            <a:extLst>
              <a:ext uri="{FF2B5EF4-FFF2-40B4-BE49-F238E27FC236}">
                <a16:creationId xmlns:a16="http://schemas.microsoft.com/office/drawing/2014/main" id="{0D4FFE6C-57F8-FB20-1E02-2DD1C136A0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44251" y="805583"/>
            <a:ext cx="4660762" cy="466076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9D1DDD4-5BB3-45BA-B9B3-06B62299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DAE64-2302-42EA-8239-F2F0775CA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9363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D82FD-2BD9-3A66-7BA4-B7D412F69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/>
              <a:t>Key Success Factors (Feature Importance)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FD9BE-A25D-3913-411C-B8840334B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82697"/>
            <a:ext cx="4162555" cy="3450613"/>
          </a:xfrm>
        </p:spPr>
        <p:txBody>
          <a:bodyPr>
            <a:normAutofit/>
          </a:bodyPr>
          <a:lstStyle/>
          <a:p>
            <a:r>
              <a:rPr lang="en-US" dirty="0"/>
              <a:t>The Top 3 drivers</a:t>
            </a:r>
          </a:p>
          <a:p>
            <a:pPr lvl="1"/>
            <a:r>
              <a:rPr lang="en-US" dirty="0"/>
              <a:t>Recency</a:t>
            </a:r>
          </a:p>
          <a:p>
            <a:pPr lvl="1"/>
            <a:r>
              <a:rPr lang="en-US" dirty="0"/>
              <a:t>Customer Days</a:t>
            </a:r>
          </a:p>
          <a:p>
            <a:pPr lvl="1"/>
            <a:r>
              <a:rPr lang="en-US" dirty="0"/>
              <a:t>Accepted Any Comp Before</a:t>
            </a:r>
            <a:endParaRPr lang="en-TW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A0DC75-B2C0-DC39-FD56-739BDDE47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304" y="2092892"/>
            <a:ext cx="6523310" cy="3669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052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8CD7B-4BA5-57E6-68E1-AC171CEB6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Conclusion &amp; Action Plan</a:t>
            </a:r>
            <a:endParaRPr lang="en-TW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52248F8-0487-35B4-35B9-03447166B5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1986455"/>
            <a:ext cx="9466137" cy="3509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Strategic Recommendation</a:t>
            </a:r>
            <a:r>
              <a:rPr kumimoji="0" lang="en-TW" altLang="en-TW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TW" altLang="en-TW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Given the high Recall rate provided by CatBoost, the marketing department should target </a:t>
            </a:r>
            <a:r>
              <a:rPr kumimoji="0" lang="en-TW" altLang="en-TW" sz="16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all</a:t>
            </a:r>
            <a:r>
              <a:rPr kumimoji="0" lang="en-TW" altLang="en-TW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customers predicted as "1" by the model to maximize campaign reach.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Budget Allocation</a:t>
            </a:r>
            <a:r>
              <a:rPr kumimoji="0" lang="en-TW" altLang="en-TW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TW" altLang="en-TW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Since the budget is sufficient, the probability threshold can be further </a:t>
            </a:r>
            <a:r>
              <a:rPr kumimoji="0" lang="en-TW" altLang="en-TW" sz="16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" panose="020B0604020202020204" pitchFamily="34" charset="0"/>
              </a:rPr>
              <a:t>lowered</a:t>
            </a:r>
            <a:r>
              <a:rPr kumimoji="0" lang="en-TW" altLang="en-TW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(e.g., from 0.5 to 0.4) to expand the target list and ensure maximum conversion.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TW" altLang="en-TW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Future Work</a:t>
            </a:r>
            <a:r>
              <a:rPr kumimoji="0" lang="en-TW" altLang="en-TW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en-TW" altLang="en-TW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Future iterations should incorporate dynamic data, such as "discount preference" or "web clickstream data," to refine Precision without sacrificing current Recall levels.</a:t>
            </a:r>
            <a:endParaRPr kumimoji="0" lang="en-TW" altLang="en-TW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79410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75</TotalTime>
  <Words>607</Words>
  <Application>Microsoft Macintosh PowerPoint</Application>
  <PresentationFormat>Widescreen</PresentationFormat>
  <Paragraphs>81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Gill Sans MT</vt:lpstr>
      <vt:lpstr>Helvetica</vt:lpstr>
      <vt:lpstr>Helvetica Neue</vt:lpstr>
      <vt:lpstr>Gallery</vt:lpstr>
      <vt:lpstr>iFood Marketing Prediction Model</vt:lpstr>
      <vt:lpstr>Executive Summary</vt:lpstr>
      <vt:lpstr>Execution Process - Data Exploration &amp; Pre-processing (EDA)</vt:lpstr>
      <vt:lpstr>Model Selection</vt:lpstr>
      <vt:lpstr>Optimization: Ensemble Undersampling</vt:lpstr>
      <vt:lpstr>Results and Analysis</vt:lpstr>
      <vt:lpstr>Key Success Factors (Feature Importance)</vt:lpstr>
      <vt:lpstr>Conclusion &amp; Action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 Chen Chang</dc:creator>
  <cp:lastModifiedBy>Wen Chen Chang</cp:lastModifiedBy>
  <cp:revision>2</cp:revision>
  <dcterms:created xsi:type="dcterms:W3CDTF">2026-02-04T10:13:58Z</dcterms:created>
  <dcterms:modified xsi:type="dcterms:W3CDTF">2026-02-04T11:29:39Z</dcterms:modified>
</cp:coreProperties>
</file>