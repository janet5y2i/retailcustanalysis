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5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778"/>
  </p:normalViewPr>
  <p:slideViewPr>
    <p:cSldViewPr snapToGrid="0">
      <p:cViewPr varScale="1">
        <p:scale>
          <a:sx n="199" d="100"/>
          <a:sy n="199" d="100"/>
        </p:scale>
        <p:origin x="1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927C6B-B92B-427A-942F-4B7DB1472B4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6E60585-D6A4-45B9-98EB-D36845C9D2FE}">
      <dgm:prSet/>
      <dgm:spPr/>
      <dgm:t>
        <a:bodyPr/>
        <a:lstStyle/>
        <a:p>
          <a:r>
            <a:rPr lang="en-US" b="1" i="0" baseline="0"/>
            <a:t>Data Cleaning</a:t>
          </a:r>
          <a:r>
            <a:rPr lang="en-US" b="0" i="0" baseline="0"/>
            <a:t>: </a:t>
          </a:r>
          <a:endParaRPr lang="en-US"/>
        </a:p>
      </dgm:t>
    </dgm:pt>
    <dgm:pt modelId="{6842FF94-8735-49E6-A7E7-712EF1D9FB9F}" type="parTrans" cxnId="{5D18643A-7833-4280-BE4A-4AC0387D6333}">
      <dgm:prSet/>
      <dgm:spPr/>
      <dgm:t>
        <a:bodyPr/>
        <a:lstStyle/>
        <a:p>
          <a:endParaRPr lang="en-US"/>
        </a:p>
      </dgm:t>
    </dgm:pt>
    <dgm:pt modelId="{F282DAC4-404A-46F9-AF3F-1E91BE693D0C}" type="sibTrans" cxnId="{5D18643A-7833-4280-BE4A-4AC0387D6333}">
      <dgm:prSet/>
      <dgm:spPr/>
      <dgm:t>
        <a:bodyPr/>
        <a:lstStyle/>
        <a:p>
          <a:endParaRPr lang="en-US"/>
        </a:p>
      </dgm:t>
    </dgm:pt>
    <dgm:pt modelId="{D455D7E1-23B4-414B-A324-68226D4BADB3}">
      <dgm:prSet/>
      <dgm:spPr/>
      <dgm:t>
        <a:bodyPr/>
        <a:lstStyle/>
        <a:p>
          <a:r>
            <a:rPr lang="en-US" b="0" i="0" baseline="0" dirty="0"/>
            <a:t>Handled missing values and infinity values to ensure mathematical stability.</a:t>
          </a:r>
          <a:endParaRPr lang="en-US" dirty="0"/>
        </a:p>
      </dgm:t>
    </dgm:pt>
    <dgm:pt modelId="{C58DE80D-4471-4163-BE80-12CDF28694AB}" type="parTrans" cxnId="{D0318296-1704-4BF0-9F37-AB26449004F4}">
      <dgm:prSet/>
      <dgm:spPr/>
      <dgm:t>
        <a:bodyPr/>
        <a:lstStyle/>
        <a:p>
          <a:endParaRPr lang="en-US"/>
        </a:p>
      </dgm:t>
    </dgm:pt>
    <dgm:pt modelId="{6334298C-8E22-4E92-839B-4ED84BF88FE9}" type="sibTrans" cxnId="{D0318296-1704-4BF0-9F37-AB26449004F4}">
      <dgm:prSet/>
      <dgm:spPr/>
      <dgm:t>
        <a:bodyPr/>
        <a:lstStyle/>
        <a:p>
          <a:endParaRPr lang="en-US"/>
        </a:p>
      </dgm:t>
    </dgm:pt>
    <dgm:pt modelId="{704D24A6-45A2-42A6-8932-6DEF9F22C1A9}">
      <dgm:prSet/>
      <dgm:spPr/>
      <dgm:t>
        <a:bodyPr/>
        <a:lstStyle/>
        <a:p>
          <a:r>
            <a:rPr lang="en-US" b="1" i="0" baseline="0"/>
            <a:t>Feature Engineering</a:t>
          </a:r>
          <a:r>
            <a:rPr lang="en-US" b="0" i="0" baseline="0"/>
            <a:t>: </a:t>
          </a:r>
          <a:endParaRPr lang="en-US"/>
        </a:p>
      </dgm:t>
    </dgm:pt>
    <dgm:pt modelId="{356DCF40-339B-4721-B274-09A4FFE2AFE5}" type="parTrans" cxnId="{A48BA5AB-C1C5-49C9-8C55-D2716ED7F67E}">
      <dgm:prSet/>
      <dgm:spPr/>
      <dgm:t>
        <a:bodyPr/>
        <a:lstStyle/>
        <a:p>
          <a:endParaRPr lang="en-US"/>
        </a:p>
      </dgm:t>
    </dgm:pt>
    <dgm:pt modelId="{BE22A06D-8EA5-4484-A51C-4973C03E0E63}" type="sibTrans" cxnId="{A48BA5AB-C1C5-49C9-8C55-D2716ED7F67E}">
      <dgm:prSet/>
      <dgm:spPr/>
      <dgm:t>
        <a:bodyPr/>
        <a:lstStyle/>
        <a:p>
          <a:endParaRPr lang="en-US"/>
        </a:p>
      </dgm:t>
    </dgm:pt>
    <dgm:pt modelId="{2825C01E-BF88-46D1-9C4C-66C3FD78A4A8}">
      <dgm:prSet/>
      <dgm:spPr/>
      <dgm:t>
        <a:bodyPr/>
        <a:lstStyle/>
        <a:p>
          <a:r>
            <a:rPr lang="en-US" baseline="0"/>
            <a:t>Identified and removed highly correlated variables</a:t>
          </a:r>
          <a:endParaRPr lang="en-US"/>
        </a:p>
      </dgm:t>
    </dgm:pt>
    <dgm:pt modelId="{D6DC05B2-17A7-4F9D-9DE7-036EFD1C9206}" type="parTrans" cxnId="{1C082A84-FC1F-422A-96E6-F58BCCE2BD6A}">
      <dgm:prSet/>
      <dgm:spPr/>
      <dgm:t>
        <a:bodyPr/>
        <a:lstStyle/>
        <a:p>
          <a:endParaRPr lang="en-US"/>
        </a:p>
      </dgm:t>
    </dgm:pt>
    <dgm:pt modelId="{56CD2F74-45EF-434E-BF4D-A24D010FC7F3}" type="sibTrans" cxnId="{1C082A84-FC1F-422A-96E6-F58BCCE2BD6A}">
      <dgm:prSet/>
      <dgm:spPr/>
      <dgm:t>
        <a:bodyPr/>
        <a:lstStyle/>
        <a:p>
          <a:endParaRPr lang="en-US"/>
        </a:p>
      </dgm:t>
    </dgm:pt>
    <dgm:pt modelId="{92996DEC-E2CD-4EA3-AE97-F6F0D036E77F}">
      <dgm:prSet/>
      <dgm:spPr/>
      <dgm:t>
        <a:bodyPr/>
        <a:lstStyle/>
        <a:p>
          <a:r>
            <a:rPr lang="en-US" baseline="0" dirty="0"/>
            <a:t>Select key performance drivers</a:t>
          </a:r>
          <a:endParaRPr lang="en-US" dirty="0"/>
        </a:p>
      </dgm:t>
    </dgm:pt>
    <dgm:pt modelId="{DEB76D5C-EBEE-4AEC-96EE-18E68C06EECD}" type="parTrans" cxnId="{5FB553D1-8ADA-4486-A3B3-44672903A552}">
      <dgm:prSet/>
      <dgm:spPr/>
      <dgm:t>
        <a:bodyPr/>
        <a:lstStyle/>
        <a:p>
          <a:endParaRPr lang="en-US"/>
        </a:p>
      </dgm:t>
    </dgm:pt>
    <dgm:pt modelId="{DF644D5A-B483-471C-967F-5788A490A851}" type="sibTrans" cxnId="{5FB553D1-8ADA-4486-A3B3-44672903A552}">
      <dgm:prSet/>
      <dgm:spPr/>
      <dgm:t>
        <a:bodyPr/>
        <a:lstStyle/>
        <a:p>
          <a:endParaRPr lang="en-US"/>
        </a:p>
      </dgm:t>
    </dgm:pt>
    <dgm:pt modelId="{4BFF305B-63AC-4EEC-9956-C7286A2B7738}">
      <dgm:prSet/>
      <dgm:spPr/>
      <dgm:t>
        <a:bodyPr/>
        <a:lstStyle/>
        <a:p>
          <a:r>
            <a:rPr lang="en-US" b="1" i="0" baseline="0"/>
            <a:t>Transformations</a:t>
          </a:r>
          <a:r>
            <a:rPr lang="en-US" b="0" i="0" baseline="0"/>
            <a:t>: </a:t>
          </a:r>
          <a:endParaRPr lang="en-US"/>
        </a:p>
      </dgm:t>
    </dgm:pt>
    <dgm:pt modelId="{4AC1E0DE-5893-47BA-BEFB-993BAE0AE58B}" type="parTrans" cxnId="{AB5C87D6-1032-496C-90DC-0E4C53D12147}">
      <dgm:prSet/>
      <dgm:spPr/>
      <dgm:t>
        <a:bodyPr/>
        <a:lstStyle/>
        <a:p>
          <a:endParaRPr lang="en-US"/>
        </a:p>
      </dgm:t>
    </dgm:pt>
    <dgm:pt modelId="{84B70D33-5694-4E37-9E12-1FAC52BCE3AF}" type="sibTrans" cxnId="{AB5C87D6-1032-496C-90DC-0E4C53D12147}">
      <dgm:prSet/>
      <dgm:spPr/>
      <dgm:t>
        <a:bodyPr/>
        <a:lstStyle/>
        <a:p>
          <a:endParaRPr lang="en-US"/>
        </a:p>
      </dgm:t>
    </dgm:pt>
    <dgm:pt modelId="{96FEE954-F60D-4FA4-B3B2-2B7AC49AFC65}">
      <dgm:prSet/>
      <dgm:spPr/>
      <dgm:t>
        <a:bodyPr/>
        <a:lstStyle/>
        <a:p>
          <a:r>
            <a:rPr lang="en-US" b="0" i="0" baseline="0"/>
            <a:t>Applied Log-transformation to skewed numerical </a:t>
          </a:r>
          <a:r>
            <a:rPr lang="en-US" baseline="0"/>
            <a:t>features (e.g., Income) and performed Z-score normalization for scale consistency</a:t>
          </a:r>
          <a:r>
            <a:rPr lang="en-US" b="0" i="0" baseline="0"/>
            <a:t>.</a:t>
          </a:r>
          <a:endParaRPr lang="en-US"/>
        </a:p>
      </dgm:t>
    </dgm:pt>
    <dgm:pt modelId="{BEE9BB4F-07A1-4834-8094-803E66619B83}" type="parTrans" cxnId="{858268C5-FA89-4837-AE81-DE4FC8CA4CCD}">
      <dgm:prSet/>
      <dgm:spPr/>
      <dgm:t>
        <a:bodyPr/>
        <a:lstStyle/>
        <a:p>
          <a:endParaRPr lang="en-US"/>
        </a:p>
      </dgm:t>
    </dgm:pt>
    <dgm:pt modelId="{5EA1E244-7995-40FF-A2D4-FA19A7C6B87D}" type="sibTrans" cxnId="{858268C5-FA89-4837-AE81-DE4FC8CA4CCD}">
      <dgm:prSet/>
      <dgm:spPr/>
      <dgm:t>
        <a:bodyPr/>
        <a:lstStyle/>
        <a:p>
          <a:endParaRPr lang="en-US"/>
        </a:p>
      </dgm:t>
    </dgm:pt>
    <dgm:pt modelId="{E332A936-F1A2-8847-85A3-720F7ACE05BD}" type="pres">
      <dgm:prSet presAssocID="{B6927C6B-B92B-427A-942F-4B7DB1472B4D}" presName="linear" presStyleCnt="0">
        <dgm:presLayoutVars>
          <dgm:animLvl val="lvl"/>
          <dgm:resizeHandles val="exact"/>
        </dgm:presLayoutVars>
      </dgm:prSet>
      <dgm:spPr/>
    </dgm:pt>
    <dgm:pt modelId="{96F77A9E-5367-BB40-9892-D70C8350FD60}" type="pres">
      <dgm:prSet presAssocID="{F6E60585-D6A4-45B9-98EB-D36845C9D2F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1FAFA1-8A52-124B-8FC5-E9E01712647F}" type="pres">
      <dgm:prSet presAssocID="{F6E60585-D6A4-45B9-98EB-D36845C9D2FE}" presName="childText" presStyleLbl="revTx" presStyleIdx="0" presStyleCnt="3">
        <dgm:presLayoutVars>
          <dgm:bulletEnabled val="1"/>
        </dgm:presLayoutVars>
      </dgm:prSet>
      <dgm:spPr/>
    </dgm:pt>
    <dgm:pt modelId="{DDFC36AC-674E-BF4C-A8DC-FA79963806BE}" type="pres">
      <dgm:prSet presAssocID="{704D24A6-45A2-42A6-8932-6DEF9F22C1A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697412-7137-F640-A033-052423500C01}" type="pres">
      <dgm:prSet presAssocID="{704D24A6-45A2-42A6-8932-6DEF9F22C1A9}" presName="childText" presStyleLbl="revTx" presStyleIdx="1" presStyleCnt="3">
        <dgm:presLayoutVars>
          <dgm:bulletEnabled val="1"/>
        </dgm:presLayoutVars>
      </dgm:prSet>
      <dgm:spPr/>
    </dgm:pt>
    <dgm:pt modelId="{68139213-5AD1-D743-AE1C-E4AB0525D448}" type="pres">
      <dgm:prSet presAssocID="{4BFF305B-63AC-4EEC-9956-C7286A2B773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37521E0-69D0-F14C-8382-C24708485D22}" type="pres">
      <dgm:prSet presAssocID="{4BFF305B-63AC-4EEC-9956-C7286A2B773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ECAD203-7A40-5843-B531-F3775D36C438}" type="presOf" srcId="{704D24A6-45A2-42A6-8932-6DEF9F22C1A9}" destId="{DDFC36AC-674E-BF4C-A8DC-FA79963806BE}" srcOrd="0" destOrd="0" presId="urn:microsoft.com/office/officeart/2005/8/layout/vList2"/>
    <dgm:cxn modelId="{7768AB22-FD36-F441-95F1-F98E931A513F}" type="presOf" srcId="{92996DEC-E2CD-4EA3-AE97-F6F0D036E77F}" destId="{E3697412-7137-F640-A033-052423500C01}" srcOrd="0" destOrd="1" presId="urn:microsoft.com/office/officeart/2005/8/layout/vList2"/>
    <dgm:cxn modelId="{5D18643A-7833-4280-BE4A-4AC0387D6333}" srcId="{B6927C6B-B92B-427A-942F-4B7DB1472B4D}" destId="{F6E60585-D6A4-45B9-98EB-D36845C9D2FE}" srcOrd="0" destOrd="0" parTransId="{6842FF94-8735-49E6-A7E7-712EF1D9FB9F}" sibTransId="{F282DAC4-404A-46F9-AF3F-1E91BE693D0C}"/>
    <dgm:cxn modelId="{E010113B-7DC3-5B48-8ECE-9C5A5642CF26}" type="presOf" srcId="{96FEE954-F60D-4FA4-B3B2-2B7AC49AFC65}" destId="{E37521E0-69D0-F14C-8382-C24708485D22}" srcOrd="0" destOrd="0" presId="urn:microsoft.com/office/officeart/2005/8/layout/vList2"/>
    <dgm:cxn modelId="{F059604E-6DBE-5B4F-B6B9-E8E36F2FF822}" type="presOf" srcId="{4BFF305B-63AC-4EEC-9956-C7286A2B7738}" destId="{68139213-5AD1-D743-AE1C-E4AB0525D448}" srcOrd="0" destOrd="0" presId="urn:microsoft.com/office/officeart/2005/8/layout/vList2"/>
    <dgm:cxn modelId="{1C082A84-FC1F-422A-96E6-F58BCCE2BD6A}" srcId="{704D24A6-45A2-42A6-8932-6DEF9F22C1A9}" destId="{2825C01E-BF88-46D1-9C4C-66C3FD78A4A8}" srcOrd="0" destOrd="0" parTransId="{D6DC05B2-17A7-4F9D-9DE7-036EFD1C9206}" sibTransId="{56CD2F74-45EF-434E-BF4D-A24D010FC7F3}"/>
    <dgm:cxn modelId="{D0318296-1704-4BF0-9F37-AB26449004F4}" srcId="{F6E60585-D6A4-45B9-98EB-D36845C9D2FE}" destId="{D455D7E1-23B4-414B-A324-68226D4BADB3}" srcOrd="0" destOrd="0" parTransId="{C58DE80D-4471-4163-BE80-12CDF28694AB}" sibTransId="{6334298C-8E22-4E92-839B-4ED84BF88FE9}"/>
    <dgm:cxn modelId="{A48BA5AB-C1C5-49C9-8C55-D2716ED7F67E}" srcId="{B6927C6B-B92B-427A-942F-4B7DB1472B4D}" destId="{704D24A6-45A2-42A6-8932-6DEF9F22C1A9}" srcOrd="1" destOrd="0" parTransId="{356DCF40-339B-4721-B274-09A4FFE2AFE5}" sibTransId="{BE22A06D-8EA5-4484-A51C-4973C03E0E63}"/>
    <dgm:cxn modelId="{70C945BB-6702-494C-838C-C2EDB6514EA7}" type="presOf" srcId="{2825C01E-BF88-46D1-9C4C-66C3FD78A4A8}" destId="{E3697412-7137-F640-A033-052423500C01}" srcOrd="0" destOrd="0" presId="urn:microsoft.com/office/officeart/2005/8/layout/vList2"/>
    <dgm:cxn modelId="{1E80B2C1-3F40-B842-9D68-8BFD178C81DB}" type="presOf" srcId="{B6927C6B-B92B-427A-942F-4B7DB1472B4D}" destId="{E332A936-F1A2-8847-85A3-720F7ACE05BD}" srcOrd="0" destOrd="0" presId="urn:microsoft.com/office/officeart/2005/8/layout/vList2"/>
    <dgm:cxn modelId="{858268C5-FA89-4837-AE81-DE4FC8CA4CCD}" srcId="{4BFF305B-63AC-4EEC-9956-C7286A2B7738}" destId="{96FEE954-F60D-4FA4-B3B2-2B7AC49AFC65}" srcOrd="0" destOrd="0" parTransId="{BEE9BB4F-07A1-4834-8094-803E66619B83}" sibTransId="{5EA1E244-7995-40FF-A2D4-FA19A7C6B87D}"/>
    <dgm:cxn modelId="{5FB553D1-8ADA-4486-A3B3-44672903A552}" srcId="{704D24A6-45A2-42A6-8932-6DEF9F22C1A9}" destId="{92996DEC-E2CD-4EA3-AE97-F6F0D036E77F}" srcOrd="1" destOrd="0" parTransId="{DEB76D5C-EBEE-4AEC-96EE-18E68C06EECD}" sibTransId="{DF644D5A-B483-471C-967F-5788A490A851}"/>
    <dgm:cxn modelId="{AB5C87D6-1032-496C-90DC-0E4C53D12147}" srcId="{B6927C6B-B92B-427A-942F-4B7DB1472B4D}" destId="{4BFF305B-63AC-4EEC-9956-C7286A2B7738}" srcOrd="2" destOrd="0" parTransId="{4AC1E0DE-5893-47BA-BEFB-993BAE0AE58B}" sibTransId="{84B70D33-5694-4E37-9E12-1FAC52BCE3AF}"/>
    <dgm:cxn modelId="{5D54A0E6-8416-A846-9D5B-FC0D006781E0}" type="presOf" srcId="{F6E60585-D6A4-45B9-98EB-D36845C9D2FE}" destId="{96F77A9E-5367-BB40-9892-D70C8350FD60}" srcOrd="0" destOrd="0" presId="urn:microsoft.com/office/officeart/2005/8/layout/vList2"/>
    <dgm:cxn modelId="{52916BF0-4484-7143-A598-58D16603561D}" type="presOf" srcId="{D455D7E1-23B4-414B-A324-68226D4BADB3}" destId="{F01FAFA1-8A52-124B-8FC5-E9E01712647F}" srcOrd="0" destOrd="0" presId="urn:microsoft.com/office/officeart/2005/8/layout/vList2"/>
    <dgm:cxn modelId="{1982D763-A553-3043-92DF-EF57C7253AFD}" type="presParOf" srcId="{E332A936-F1A2-8847-85A3-720F7ACE05BD}" destId="{96F77A9E-5367-BB40-9892-D70C8350FD60}" srcOrd="0" destOrd="0" presId="urn:microsoft.com/office/officeart/2005/8/layout/vList2"/>
    <dgm:cxn modelId="{A879C302-6E1C-7C45-9A11-F0177D1F2CFB}" type="presParOf" srcId="{E332A936-F1A2-8847-85A3-720F7ACE05BD}" destId="{F01FAFA1-8A52-124B-8FC5-E9E01712647F}" srcOrd="1" destOrd="0" presId="urn:microsoft.com/office/officeart/2005/8/layout/vList2"/>
    <dgm:cxn modelId="{DD594605-802C-A547-82B2-4FD46D59FB06}" type="presParOf" srcId="{E332A936-F1A2-8847-85A3-720F7ACE05BD}" destId="{DDFC36AC-674E-BF4C-A8DC-FA79963806BE}" srcOrd="2" destOrd="0" presId="urn:microsoft.com/office/officeart/2005/8/layout/vList2"/>
    <dgm:cxn modelId="{875F18EB-DEBE-BE42-816E-B620F37D13D3}" type="presParOf" srcId="{E332A936-F1A2-8847-85A3-720F7ACE05BD}" destId="{E3697412-7137-F640-A033-052423500C01}" srcOrd="3" destOrd="0" presId="urn:microsoft.com/office/officeart/2005/8/layout/vList2"/>
    <dgm:cxn modelId="{498D6A61-5546-CC4D-9061-BE0D281A37B5}" type="presParOf" srcId="{E332A936-F1A2-8847-85A3-720F7ACE05BD}" destId="{68139213-5AD1-D743-AE1C-E4AB0525D448}" srcOrd="4" destOrd="0" presId="urn:microsoft.com/office/officeart/2005/8/layout/vList2"/>
    <dgm:cxn modelId="{F74FF383-E9F1-CD47-A904-EFABE11FCBF1}" type="presParOf" srcId="{E332A936-F1A2-8847-85A3-720F7ACE05BD}" destId="{E37521E0-69D0-F14C-8382-C24708485D2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D49ECE-B368-C941-8130-90EC2FC59C6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E3CC2D-D5E7-5D4B-8428-0928B54A5F84}">
      <dgm:prSet/>
      <dgm:spPr/>
      <dgm:t>
        <a:bodyPr/>
        <a:lstStyle/>
        <a:p>
          <a:r>
            <a:rPr lang="en-TW" b="1" i="0" baseline="0" dirty="0"/>
            <a:t>Implementation</a:t>
          </a:r>
          <a:endParaRPr lang="en-TW" dirty="0"/>
        </a:p>
      </dgm:t>
    </dgm:pt>
    <dgm:pt modelId="{90CEF350-4D61-6642-991E-36C996581B71}" type="parTrans" cxnId="{22FB37E7-FF6B-604F-95DC-143F793458C3}">
      <dgm:prSet/>
      <dgm:spPr/>
      <dgm:t>
        <a:bodyPr/>
        <a:lstStyle/>
        <a:p>
          <a:endParaRPr lang="en-US"/>
        </a:p>
      </dgm:t>
    </dgm:pt>
    <dgm:pt modelId="{BFB75219-7272-4741-A29D-D4F4674F30F2}" type="sibTrans" cxnId="{22FB37E7-FF6B-604F-95DC-143F793458C3}">
      <dgm:prSet/>
      <dgm:spPr/>
      <dgm:t>
        <a:bodyPr/>
        <a:lstStyle/>
        <a:p>
          <a:endParaRPr lang="en-US"/>
        </a:p>
      </dgm:t>
    </dgm:pt>
    <dgm:pt modelId="{F9986B98-D214-3A46-A0CF-D6FCCAFB5D6F}">
      <dgm:prSet/>
      <dgm:spPr/>
      <dgm:t>
        <a:bodyPr/>
        <a:lstStyle/>
        <a:p>
          <a:r>
            <a:rPr lang="en-TW" b="1" i="0" baseline="0" dirty="0"/>
            <a:t>Aggregation</a:t>
          </a:r>
          <a:endParaRPr lang="en-TW" dirty="0"/>
        </a:p>
      </dgm:t>
    </dgm:pt>
    <dgm:pt modelId="{18D3C6FF-07BE-1548-95CD-382C4D0CF876}" type="parTrans" cxnId="{983F6157-3172-644E-9CAD-EC39A4B7D7CB}">
      <dgm:prSet/>
      <dgm:spPr/>
      <dgm:t>
        <a:bodyPr/>
        <a:lstStyle/>
        <a:p>
          <a:endParaRPr lang="en-US"/>
        </a:p>
      </dgm:t>
    </dgm:pt>
    <dgm:pt modelId="{6BD24BF9-A1DA-7A49-9AA7-CB7D6749CA82}" type="sibTrans" cxnId="{983F6157-3172-644E-9CAD-EC39A4B7D7CB}">
      <dgm:prSet/>
      <dgm:spPr/>
      <dgm:t>
        <a:bodyPr/>
        <a:lstStyle/>
        <a:p>
          <a:endParaRPr lang="en-US"/>
        </a:p>
      </dgm:t>
    </dgm:pt>
    <dgm:pt modelId="{CD744C82-FAA6-1043-AF02-977C096ECA10}">
      <dgm:prSet custT="1"/>
      <dgm:spPr/>
      <dgm:t>
        <a:bodyPr/>
        <a:lstStyle/>
        <a:p>
          <a:r>
            <a:rPr lang="en-TW" sz="1600" b="0" i="0" baseline="0" dirty="0"/>
            <a:t>The majority class (non-responders) was split into three distinct subsets.</a:t>
          </a:r>
          <a:endParaRPr lang="en-US" sz="1600" dirty="0"/>
        </a:p>
      </dgm:t>
    </dgm:pt>
    <dgm:pt modelId="{EDA52DC8-DA95-CD4D-8129-A96CC1097FF2}" type="parTrans" cxnId="{B1688A2B-F03E-A541-9EC9-38728D868CB5}">
      <dgm:prSet/>
      <dgm:spPr/>
      <dgm:t>
        <a:bodyPr/>
        <a:lstStyle/>
        <a:p>
          <a:endParaRPr lang="en-US"/>
        </a:p>
      </dgm:t>
    </dgm:pt>
    <dgm:pt modelId="{6C834759-C010-C647-868C-E3D1E4C57E22}" type="sibTrans" cxnId="{B1688A2B-F03E-A541-9EC9-38728D868CB5}">
      <dgm:prSet/>
      <dgm:spPr/>
      <dgm:t>
        <a:bodyPr/>
        <a:lstStyle/>
        <a:p>
          <a:endParaRPr lang="en-US"/>
        </a:p>
      </dgm:t>
    </dgm:pt>
    <dgm:pt modelId="{3E6ABDB4-FAE3-E44A-8C7E-5FFCA8D5ED81}">
      <dgm:prSet custT="1"/>
      <dgm:spPr/>
      <dgm:t>
        <a:bodyPr/>
        <a:lstStyle/>
        <a:p>
          <a:r>
            <a:rPr lang="en-TW" sz="1600" b="0" i="0" baseline="0" dirty="0"/>
            <a:t>Final predictions were derived by </a:t>
          </a:r>
          <a:r>
            <a:rPr lang="en-TW" sz="1600" b="1" i="0" baseline="0" dirty="0"/>
            <a:t>averaging</a:t>
          </a:r>
          <a:r>
            <a:rPr lang="en-TW" sz="1600" b="0" i="0" baseline="0" dirty="0"/>
            <a:t> the probabilities from all three models.</a:t>
          </a:r>
          <a:endParaRPr lang="en-US" sz="1600" dirty="0"/>
        </a:p>
      </dgm:t>
    </dgm:pt>
    <dgm:pt modelId="{C5C7454D-2492-9C40-8EF2-5D65610DBC25}" type="parTrans" cxnId="{45E8A358-3130-974E-BE7C-70D694D98222}">
      <dgm:prSet/>
      <dgm:spPr/>
      <dgm:t>
        <a:bodyPr/>
        <a:lstStyle/>
        <a:p>
          <a:endParaRPr lang="en-US"/>
        </a:p>
      </dgm:t>
    </dgm:pt>
    <dgm:pt modelId="{DAB56433-A468-8944-BFCC-C2D90FE77C09}" type="sibTrans" cxnId="{45E8A358-3130-974E-BE7C-70D694D98222}">
      <dgm:prSet/>
      <dgm:spPr/>
      <dgm:t>
        <a:bodyPr/>
        <a:lstStyle/>
        <a:p>
          <a:endParaRPr lang="en-US"/>
        </a:p>
      </dgm:t>
    </dgm:pt>
    <dgm:pt modelId="{AA82E1F9-26B2-B54C-B9E4-AD46E95A5404}">
      <dgm:prSet custT="1"/>
      <dgm:spPr/>
      <dgm:t>
        <a:bodyPr/>
        <a:lstStyle/>
        <a:p>
          <a:r>
            <a:rPr lang="en-TW" sz="1600" b="0" i="0" baseline="0" dirty="0"/>
            <a:t>Each was paired with the full set of minority samples (responders) to train three separate sub-models.</a:t>
          </a:r>
          <a:endParaRPr lang="en-US" sz="1600" dirty="0"/>
        </a:p>
      </dgm:t>
    </dgm:pt>
    <dgm:pt modelId="{D5186179-D839-7F4B-A7C1-B06FBB32CA60}" type="parTrans" cxnId="{24CD569F-B5E2-D944-AAA2-E004AC383524}">
      <dgm:prSet/>
      <dgm:spPr/>
      <dgm:t>
        <a:bodyPr/>
        <a:lstStyle/>
        <a:p>
          <a:endParaRPr lang="en-US"/>
        </a:p>
      </dgm:t>
    </dgm:pt>
    <dgm:pt modelId="{545299AE-384C-F049-8081-07E2242592D8}" type="sibTrans" cxnId="{24CD569F-B5E2-D944-AAA2-E004AC383524}">
      <dgm:prSet/>
      <dgm:spPr/>
      <dgm:t>
        <a:bodyPr/>
        <a:lstStyle/>
        <a:p>
          <a:endParaRPr lang="en-US"/>
        </a:p>
      </dgm:t>
    </dgm:pt>
    <dgm:pt modelId="{8FBB332B-1B00-5F4E-9677-6A7C11FCCAF2}" type="pres">
      <dgm:prSet presAssocID="{E1D49ECE-B368-C941-8130-90EC2FC59C6D}" presName="Name0" presStyleCnt="0">
        <dgm:presLayoutVars>
          <dgm:dir/>
          <dgm:animLvl val="lvl"/>
          <dgm:resizeHandles val="exact"/>
        </dgm:presLayoutVars>
      </dgm:prSet>
      <dgm:spPr/>
    </dgm:pt>
    <dgm:pt modelId="{5FEC9113-7ADB-CA47-8482-CBEC3B7C618F}" type="pres">
      <dgm:prSet presAssocID="{E5E3CC2D-D5E7-5D4B-8428-0928B54A5F84}" presName="composite" presStyleCnt="0"/>
      <dgm:spPr/>
    </dgm:pt>
    <dgm:pt modelId="{88D84B11-301F-E74A-93A6-1E0BFD63E348}" type="pres">
      <dgm:prSet presAssocID="{E5E3CC2D-D5E7-5D4B-8428-0928B54A5F8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074529E-EA23-2B43-A0AE-4E9F7B098351}" type="pres">
      <dgm:prSet presAssocID="{E5E3CC2D-D5E7-5D4B-8428-0928B54A5F84}" presName="desTx" presStyleLbl="alignAccFollowNode1" presStyleIdx="0" presStyleCnt="2">
        <dgm:presLayoutVars>
          <dgm:bulletEnabled val="1"/>
        </dgm:presLayoutVars>
      </dgm:prSet>
      <dgm:spPr/>
    </dgm:pt>
    <dgm:pt modelId="{B937667D-02C8-604F-87F5-DF9DBF9BF7CA}" type="pres">
      <dgm:prSet presAssocID="{BFB75219-7272-4741-A29D-D4F4674F30F2}" presName="space" presStyleCnt="0"/>
      <dgm:spPr/>
    </dgm:pt>
    <dgm:pt modelId="{358C23B7-89C8-AF48-907F-048C5F9E5C6D}" type="pres">
      <dgm:prSet presAssocID="{F9986B98-D214-3A46-A0CF-D6FCCAFB5D6F}" presName="composite" presStyleCnt="0"/>
      <dgm:spPr/>
    </dgm:pt>
    <dgm:pt modelId="{FA042041-6541-FE49-B8AD-DE29BE439AE1}" type="pres">
      <dgm:prSet presAssocID="{F9986B98-D214-3A46-A0CF-D6FCCAFB5D6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10D3EAC-FD93-1440-B960-7C5537B4AABC}" type="pres">
      <dgm:prSet presAssocID="{F9986B98-D214-3A46-A0CF-D6FCCAFB5D6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670CD23-71AB-EE47-A729-9176D77AFF80}" type="presOf" srcId="{3E6ABDB4-FAE3-E44A-8C7E-5FFCA8D5ED81}" destId="{510D3EAC-FD93-1440-B960-7C5537B4AABC}" srcOrd="0" destOrd="0" presId="urn:microsoft.com/office/officeart/2005/8/layout/hList1"/>
    <dgm:cxn modelId="{B1688A2B-F03E-A541-9EC9-38728D868CB5}" srcId="{E5E3CC2D-D5E7-5D4B-8428-0928B54A5F84}" destId="{CD744C82-FAA6-1043-AF02-977C096ECA10}" srcOrd="0" destOrd="0" parTransId="{EDA52DC8-DA95-CD4D-8129-A96CC1097FF2}" sibTransId="{6C834759-C010-C647-868C-E3D1E4C57E22}"/>
    <dgm:cxn modelId="{2EBB7A39-B746-9D49-8FD3-AAD0B7551C71}" type="presOf" srcId="{F9986B98-D214-3A46-A0CF-D6FCCAFB5D6F}" destId="{FA042041-6541-FE49-B8AD-DE29BE439AE1}" srcOrd="0" destOrd="0" presId="urn:microsoft.com/office/officeart/2005/8/layout/hList1"/>
    <dgm:cxn modelId="{412F3048-7C1C-594E-9BE9-8BA77EBBF2D0}" type="presOf" srcId="{E5E3CC2D-D5E7-5D4B-8428-0928B54A5F84}" destId="{88D84B11-301F-E74A-93A6-1E0BFD63E348}" srcOrd="0" destOrd="0" presId="urn:microsoft.com/office/officeart/2005/8/layout/hList1"/>
    <dgm:cxn modelId="{F0440E54-C484-3E40-BED6-3132F3341342}" type="presOf" srcId="{E1D49ECE-B368-C941-8130-90EC2FC59C6D}" destId="{8FBB332B-1B00-5F4E-9677-6A7C11FCCAF2}" srcOrd="0" destOrd="0" presId="urn:microsoft.com/office/officeart/2005/8/layout/hList1"/>
    <dgm:cxn modelId="{983F6157-3172-644E-9CAD-EC39A4B7D7CB}" srcId="{E1D49ECE-B368-C941-8130-90EC2FC59C6D}" destId="{F9986B98-D214-3A46-A0CF-D6FCCAFB5D6F}" srcOrd="1" destOrd="0" parTransId="{18D3C6FF-07BE-1548-95CD-382C4D0CF876}" sibTransId="{6BD24BF9-A1DA-7A49-9AA7-CB7D6749CA82}"/>
    <dgm:cxn modelId="{45E8A358-3130-974E-BE7C-70D694D98222}" srcId="{F9986B98-D214-3A46-A0CF-D6FCCAFB5D6F}" destId="{3E6ABDB4-FAE3-E44A-8C7E-5FFCA8D5ED81}" srcOrd="0" destOrd="0" parTransId="{C5C7454D-2492-9C40-8EF2-5D65610DBC25}" sibTransId="{DAB56433-A468-8944-BFCC-C2D90FE77C09}"/>
    <dgm:cxn modelId="{49C45F5D-243D-974E-9BB6-51D214F4D83E}" type="presOf" srcId="{CD744C82-FAA6-1043-AF02-977C096ECA10}" destId="{D074529E-EA23-2B43-A0AE-4E9F7B098351}" srcOrd="0" destOrd="0" presId="urn:microsoft.com/office/officeart/2005/8/layout/hList1"/>
    <dgm:cxn modelId="{24CD569F-B5E2-D944-AAA2-E004AC383524}" srcId="{E5E3CC2D-D5E7-5D4B-8428-0928B54A5F84}" destId="{AA82E1F9-26B2-B54C-B9E4-AD46E95A5404}" srcOrd="1" destOrd="0" parTransId="{D5186179-D839-7F4B-A7C1-B06FBB32CA60}" sibTransId="{545299AE-384C-F049-8081-07E2242592D8}"/>
    <dgm:cxn modelId="{75C5E4BE-749E-7644-9727-1A3123E22581}" type="presOf" srcId="{AA82E1F9-26B2-B54C-B9E4-AD46E95A5404}" destId="{D074529E-EA23-2B43-A0AE-4E9F7B098351}" srcOrd="0" destOrd="1" presId="urn:microsoft.com/office/officeart/2005/8/layout/hList1"/>
    <dgm:cxn modelId="{22FB37E7-FF6B-604F-95DC-143F793458C3}" srcId="{E1D49ECE-B368-C941-8130-90EC2FC59C6D}" destId="{E5E3CC2D-D5E7-5D4B-8428-0928B54A5F84}" srcOrd="0" destOrd="0" parTransId="{90CEF350-4D61-6642-991E-36C996581B71}" sibTransId="{BFB75219-7272-4741-A29D-D4F4674F30F2}"/>
    <dgm:cxn modelId="{6C2C1759-757B-1741-8E3E-CECED75A5086}" type="presParOf" srcId="{8FBB332B-1B00-5F4E-9677-6A7C11FCCAF2}" destId="{5FEC9113-7ADB-CA47-8482-CBEC3B7C618F}" srcOrd="0" destOrd="0" presId="urn:microsoft.com/office/officeart/2005/8/layout/hList1"/>
    <dgm:cxn modelId="{6DEA4FBF-C612-354D-A31E-8F515646D6FC}" type="presParOf" srcId="{5FEC9113-7ADB-CA47-8482-CBEC3B7C618F}" destId="{88D84B11-301F-E74A-93A6-1E0BFD63E348}" srcOrd="0" destOrd="0" presId="urn:microsoft.com/office/officeart/2005/8/layout/hList1"/>
    <dgm:cxn modelId="{F8258233-B406-8147-929E-35535F2C39F8}" type="presParOf" srcId="{5FEC9113-7ADB-CA47-8482-CBEC3B7C618F}" destId="{D074529E-EA23-2B43-A0AE-4E9F7B098351}" srcOrd="1" destOrd="0" presId="urn:microsoft.com/office/officeart/2005/8/layout/hList1"/>
    <dgm:cxn modelId="{85854FC1-75C8-1849-9194-B80367914F22}" type="presParOf" srcId="{8FBB332B-1B00-5F4E-9677-6A7C11FCCAF2}" destId="{B937667D-02C8-604F-87F5-DF9DBF9BF7CA}" srcOrd="1" destOrd="0" presId="urn:microsoft.com/office/officeart/2005/8/layout/hList1"/>
    <dgm:cxn modelId="{F65AECAC-48F3-614A-9E8D-64185C0DBD09}" type="presParOf" srcId="{8FBB332B-1B00-5F4E-9677-6A7C11FCCAF2}" destId="{358C23B7-89C8-AF48-907F-048C5F9E5C6D}" srcOrd="2" destOrd="0" presId="urn:microsoft.com/office/officeart/2005/8/layout/hList1"/>
    <dgm:cxn modelId="{BF29F66C-C58C-7942-982C-BFFABCB73166}" type="presParOf" srcId="{358C23B7-89C8-AF48-907F-048C5F9E5C6D}" destId="{FA042041-6541-FE49-B8AD-DE29BE439AE1}" srcOrd="0" destOrd="0" presId="urn:microsoft.com/office/officeart/2005/8/layout/hList1"/>
    <dgm:cxn modelId="{D9C390AB-87CA-4847-9074-7C8BC575DE2C}" type="presParOf" srcId="{358C23B7-89C8-AF48-907F-048C5F9E5C6D}" destId="{510D3EAC-FD93-1440-B960-7C5537B4AA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4E9A04-D79E-4DE4-994A-A2B064F6E228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962ACD-7670-4DD4-94DB-B1B2FA8870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Strategic Recommendation</a:t>
          </a:r>
          <a:endParaRPr lang="en-US" dirty="0"/>
        </a:p>
      </dgm:t>
    </dgm:pt>
    <dgm:pt modelId="{32F1E0AC-2693-45CF-8ACF-3D072B078CCD}" type="parTrans" cxnId="{50CF8EBE-0CC4-42D5-A04B-B17D661FFAD0}">
      <dgm:prSet/>
      <dgm:spPr/>
      <dgm:t>
        <a:bodyPr/>
        <a:lstStyle/>
        <a:p>
          <a:endParaRPr lang="en-US"/>
        </a:p>
      </dgm:t>
    </dgm:pt>
    <dgm:pt modelId="{3CB82043-14A9-41E5-8AA2-C4A49129DB72}" type="sibTrans" cxnId="{50CF8EBE-0CC4-42D5-A04B-B17D661FFAD0}">
      <dgm:prSet/>
      <dgm:spPr/>
      <dgm:t>
        <a:bodyPr/>
        <a:lstStyle/>
        <a:p>
          <a:endParaRPr lang="en-US"/>
        </a:p>
      </dgm:t>
    </dgm:pt>
    <dgm:pt modelId="{DC5D1B6D-1119-43A5-95C7-82227401BA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Given the high Recall rate provided by CatBoost, the marketing department should target </a:t>
          </a:r>
          <a:r>
            <a:rPr lang="en-US" b="1" i="0" baseline="0"/>
            <a:t>all</a:t>
          </a:r>
          <a:r>
            <a:rPr lang="en-US" b="0" i="0" baseline="0"/>
            <a:t> customers predicted as "1" by the model to maximize campaign reach.</a:t>
          </a:r>
          <a:endParaRPr lang="en-US"/>
        </a:p>
      </dgm:t>
    </dgm:pt>
    <dgm:pt modelId="{EA91ECE5-267E-4472-8CC2-372FC894D0C4}" type="parTrans" cxnId="{EDEECFA3-691A-4A18-B3DD-2D38E4E119AA}">
      <dgm:prSet/>
      <dgm:spPr/>
      <dgm:t>
        <a:bodyPr/>
        <a:lstStyle/>
        <a:p>
          <a:endParaRPr lang="en-US"/>
        </a:p>
      </dgm:t>
    </dgm:pt>
    <dgm:pt modelId="{A71BA6B7-2043-4AB9-BF1E-0AD2CB5D4727}" type="sibTrans" cxnId="{EDEECFA3-691A-4A18-B3DD-2D38E4E119AA}">
      <dgm:prSet/>
      <dgm:spPr/>
      <dgm:t>
        <a:bodyPr/>
        <a:lstStyle/>
        <a:p>
          <a:endParaRPr lang="en-US"/>
        </a:p>
      </dgm:t>
    </dgm:pt>
    <dgm:pt modelId="{B7EDD5E2-AF91-4689-A3F7-73DC1E0469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Budget Allocation</a:t>
          </a:r>
          <a:endParaRPr lang="en-US" dirty="0"/>
        </a:p>
      </dgm:t>
    </dgm:pt>
    <dgm:pt modelId="{857CD30B-A521-4066-AC07-501796AEDA95}" type="parTrans" cxnId="{9924060B-84FC-40F1-81C8-4FB5F42C12C4}">
      <dgm:prSet/>
      <dgm:spPr/>
      <dgm:t>
        <a:bodyPr/>
        <a:lstStyle/>
        <a:p>
          <a:endParaRPr lang="en-US"/>
        </a:p>
      </dgm:t>
    </dgm:pt>
    <dgm:pt modelId="{690D06AC-9DBE-4823-BA62-F9DFF36AF78C}" type="sibTrans" cxnId="{9924060B-84FC-40F1-81C8-4FB5F42C12C4}">
      <dgm:prSet/>
      <dgm:spPr/>
      <dgm:t>
        <a:bodyPr/>
        <a:lstStyle/>
        <a:p>
          <a:endParaRPr lang="en-US"/>
        </a:p>
      </dgm:t>
    </dgm:pt>
    <dgm:pt modelId="{253CFECB-E45F-4B9E-8B4E-AC4338611D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Since the budget is sufficient, the probability threshold can be further </a:t>
          </a:r>
          <a:r>
            <a:rPr lang="en-US" b="1" i="0" baseline="0"/>
            <a:t>lowered</a:t>
          </a:r>
          <a:r>
            <a:rPr lang="en-US" b="0" i="0" baseline="0"/>
            <a:t> (e.g., from 0.5 to 0.4) to expand the target list and ensure maximum conversion.</a:t>
          </a:r>
          <a:endParaRPr lang="en-US"/>
        </a:p>
      </dgm:t>
    </dgm:pt>
    <dgm:pt modelId="{DC686C35-8FB6-407F-9F9A-21C9A5C44BCB}" type="parTrans" cxnId="{FA7A14FD-18E1-4768-BB8F-B8B2E4F172BB}">
      <dgm:prSet/>
      <dgm:spPr/>
      <dgm:t>
        <a:bodyPr/>
        <a:lstStyle/>
        <a:p>
          <a:endParaRPr lang="en-US"/>
        </a:p>
      </dgm:t>
    </dgm:pt>
    <dgm:pt modelId="{CCB246E7-EF2A-4EBD-88E1-D064F4070FF8}" type="sibTrans" cxnId="{FA7A14FD-18E1-4768-BB8F-B8B2E4F172BB}">
      <dgm:prSet/>
      <dgm:spPr/>
      <dgm:t>
        <a:bodyPr/>
        <a:lstStyle/>
        <a:p>
          <a:endParaRPr lang="en-US"/>
        </a:p>
      </dgm:t>
    </dgm:pt>
    <dgm:pt modelId="{8A7D5E88-2753-435B-AD61-B456735AD1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Future Work</a:t>
          </a:r>
          <a:endParaRPr lang="en-US" dirty="0"/>
        </a:p>
      </dgm:t>
    </dgm:pt>
    <dgm:pt modelId="{78310AE0-7541-4B80-84A3-216381A68C12}" type="parTrans" cxnId="{6EC2445F-A7FD-44FE-8BBF-8D9FB4EFB375}">
      <dgm:prSet/>
      <dgm:spPr/>
      <dgm:t>
        <a:bodyPr/>
        <a:lstStyle/>
        <a:p>
          <a:endParaRPr lang="en-US"/>
        </a:p>
      </dgm:t>
    </dgm:pt>
    <dgm:pt modelId="{77183526-BC30-4478-92D5-E12384B62C46}" type="sibTrans" cxnId="{6EC2445F-A7FD-44FE-8BBF-8D9FB4EFB375}">
      <dgm:prSet/>
      <dgm:spPr/>
      <dgm:t>
        <a:bodyPr/>
        <a:lstStyle/>
        <a:p>
          <a:endParaRPr lang="en-US"/>
        </a:p>
      </dgm:t>
    </dgm:pt>
    <dgm:pt modelId="{340730A1-ED60-4E1C-BD31-D5A081D595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Future iterations should incorporate dynamic data, such as "discount preference" or "web clickstream data," to refine Precision without sacrificing current Recall levels.</a:t>
          </a:r>
          <a:endParaRPr lang="en-US"/>
        </a:p>
      </dgm:t>
    </dgm:pt>
    <dgm:pt modelId="{B938FFBA-FDEA-416C-8B46-512EB616368D}" type="parTrans" cxnId="{D0E0D700-91E1-4F30-AD07-CF218731FCE4}">
      <dgm:prSet/>
      <dgm:spPr/>
      <dgm:t>
        <a:bodyPr/>
        <a:lstStyle/>
        <a:p>
          <a:endParaRPr lang="en-US"/>
        </a:p>
      </dgm:t>
    </dgm:pt>
    <dgm:pt modelId="{92A1623F-DC5E-48F1-8CF9-0C0183E3398E}" type="sibTrans" cxnId="{D0E0D700-91E1-4F30-AD07-CF218731FCE4}">
      <dgm:prSet/>
      <dgm:spPr/>
      <dgm:t>
        <a:bodyPr/>
        <a:lstStyle/>
        <a:p>
          <a:endParaRPr lang="en-US"/>
        </a:p>
      </dgm:t>
    </dgm:pt>
    <dgm:pt modelId="{3072BFC1-ADEA-4FF0-A581-8BC60A3B74A7}" type="pres">
      <dgm:prSet presAssocID="{484E9A04-D79E-4DE4-994A-A2B064F6E228}" presName="root" presStyleCnt="0">
        <dgm:presLayoutVars>
          <dgm:dir/>
          <dgm:resizeHandles val="exact"/>
        </dgm:presLayoutVars>
      </dgm:prSet>
      <dgm:spPr/>
    </dgm:pt>
    <dgm:pt modelId="{9750586D-4128-4293-A1BB-C019ED5691E4}" type="pres">
      <dgm:prSet presAssocID="{E7962ACD-7670-4DD4-94DB-B1B2FA8870C6}" presName="compNode" presStyleCnt="0"/>
      <dgm:spPr/>
    </dgm:pt>
    <dgm:pt modelId="{4E829232-7761-4952-8A44-806193D2B269}" type="pres">
      <dgm:prSet presAssocID="{E7962ACD-7670-4DD4-94DB-B1B2FA8870C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2E4446AB-5C58-4E2D-A89E-F34F32D4A7D7}" type="pres">
      <dgm:prSet presAssocID="{E7962ACD-7670-4DD4-94DB-B1B2FA8870C6}" presName="iconSpace" presStyleCnt="0"/>
      <dgm:spPr/>
    </dgm:pt>
    <dgm:pt modelId="{447F8972-006B-4326-A86C-00EE9205BE9B}" type="pres">
      <dgm:prSet presAssocID="{E7962ACD-7670-4DD4-94DB-B1B2FA8870C6}" presName="parTx" presStyleLbl="revTx" presStyleIdx="0" presStyleCnt="6">
        <dgm:presLayoutVars>
          <dgm:chMax val="0"/>
          <dgm:chPref val="0"/>
        </dgm:presLayoutVars>
      </dgm:prSet>
      <dgm:spPr/>
    </dgm:pt>
    <dgm:pt modelId="{A773ADC4-9CBA-4959-A8A9-1772274DB379}" type="pres">
      <dgm:prSet presAssocID="{E7962ACD-7670-4DD4-94DB-B1B2FA8870C6}" presName="txSpace" presStyleCnt="0"/>
      <dgm:spPr/>
    </dgm:pt>
    <dgm:pt modelId="{A0269250-63B7-40EF-8B8D-92E6F709B5ED}" type="pres">
      <dgm:prSet presAssocID="{E7962ACD-7670-4DD4-94DB-B1B2FA8870C6}" presName="desTx" presStyleLbl="revTx" presStyleIdx="1" presStyleCnt="6">
        <dgm:presLayoutVars/>
      </dgm:prSet>
      <dgm:spPr/>
    </dgm:pt>
    <dgm:pt modelId="{5BDBB398-C1FD-4D07-8AB2-635814B00CF3}" type="pres">
      <dgm:prSet presAssocID="{3CB82043-14A9-41E5-8AA2-C4A49129DB72}" presName="sibTrans" presStyleCnt="0"/>
      <dgm:spPr/>
    </dgm:pt>
    <dgm:pt modelId="{EADCBC34-58E1-4504-BE4F-72313819880B}" type="pres">
      <dgm:prSet presAssocID="{B7EDD5E2-AF91-4689-A3F7-73DC1E04695F}" presName="compNode" presStyleCnt="0"/>
      <dgm:spPr/>
    </dgm:pt>
    <dgm:pt modelId="{703893BD-D9E1-4342-96B0-42494861ED65}" type="pres">
      <dgm:prSet presAssocID="{B7EDD5E2-AF91-4689-A3F7-73DC1E0469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4EB3AB5-57EF-4D39-9788-43B9694D859E}" type="pres">
      <dgm:prSet presAssocID="{B7EDD5E2-AF91-4689-A3F7-73DC1E04695F}" presName="iconSpace" presStyleCnt="0"/>
      <dgm:spPr/>
    </dgm:pt>
    <dgm:pt modelId="{AAA63FE9-78E9-4342-9726-7E43E9953E50}" type="pres">
      <dgm:prSet presAssocID="{B7EDD5E2-AF91-4689-A3F7-73DC1E04695F}" presName="parTx" presStyleLbl="revTx" presStyleIdx="2" presStyleCnt="6">
        <dgm:presLayoutVars>
          <dgm:chMax val="0"/>
          <dgm:chPref val="0"/>
        </dgm:presLayoutVars>
      </dgm:prSet>
      <dgm:spPr/>
    </dgm:pt>
    <dgm:pt modelId="{D18223D0-0532-4076-BA44-1496B47828EB}" type="pres">
      <dgm:prSet presAssocID="{B7EDD5E2-AF91-4689-A3F7-73DC1E04695F}" presName="txSpace" presStyleCnt="0"/>
      <dgm:spPr/>
    </dgm:pt>
    <dgm:pt modelId="{58D9D62D-2416-410A-A075-A4603A33C358}" type="pres">
      <dgm:prSet presAssocID="{B7EDD5E2-AF91-4689-A3F7-73DC1E04695F}" presName="desTx" presStyleLbl="revTx" presStyleIdx="3" presStyleCnt="6">
        <dgm:presLayoutVars/>
      </dgm:prSet>
      <dgm:spPr/>
    </dgm:pt>
    <dgm:pt modelId="{B7755D31-1F7E-4BE5-AD12-14146852BD7C}" type="pres">
      <dgm:prSet presAssocID="{690D06AC-9DBE-4823-BA62-F9DFF36AF78C}" presName="sibTrans" presStyleCnt="0"/>
      <dgm:spPr/>
    </dgm:pt>
    <dgm:pt modelId="{7E465307-1608-4677-8BA2-F8E76CEE9FD3}" type="pres">
      <dgm:prSet presAssocID="{8A7D5E88-2753-435B-AD61-B456735AD1EA}" presName="compNode" presStyleCnt="0"/>
      <dgm:spPr/>
    </dgm:pt>
    <dgm:pt modelId="{49D1D4FB-FCF3-441A-A208-4DCBFFB07571}" type="pres">
      <dgm:prSet presAssocID="{8A7D5E88-2753-435B-AD61-B456735AD1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611558B-1DBB-41C4-8D9C-69D67948B6B5}" type="pres">
      <dgm:prSet presAssocID="{8A7D5E88-2753-435B-AD61-B456735AD1EA}" presName="iconSpace" presStyleCnt="0"/>
      <dgm:spPr/>
    </dgm:pt>
    <dgm:pt modelId="{687826C3-896E-4944-B9F3-C4889A6298CE}" type="pres">
      <dgm:prSet presAssocID="{8A7D5E88-2753-435B-AD61-B456735AD1EA}" presName="parTx" presStyleLbl="revTx" presStyleIdx="4" presStyleCnt="6">
        <dgm:presLayoutVars>
          <dgm:chMax val="0"/>
          <dgm:chPref val="0"/>
        </dgm:presLayoutVars>
      </dgm:prSet>
      <dgm:spPr/>
    </dgm:pt>
    <dgm:pt modelId="{CCFA23E8-AC69-46FB-A3A5-36C89914BB25}" type="pres">
      <dgm:prSet presAssocID="{8A7D5E88-2753-435B-AD61-B456735AD1EA}" presName="txSpace" presStyleCnt="0"/>
      <dgm:spPr/>
    </dgm:pt>
    <dgm:pt modelId="{B4308127-60D0-43B9-8092-8D47BCDACE5A}" type="pres">
      <dgm:prSet presAssocID="{8A7D5E88-2753-435B-AD61-B456735AD1EA}" presName="desTx" presStyleLbl="revTx" presStyleIdx="5" presStyleCnt="6">
        <dgm:presLayoutVars/>
      </dgm:prSet>
      <dgm:spPr/>
    </dgm:pt>
  </dgm:ptLst>
  <dgm:cxnLst>
    <dgm:cxn modelId="{D0E0D700-91E1-4F30-AD07-CF218731FCE4}" srcId="{8A7D5E88-2753-435B-AD61-B456735AD1EA}" destId="{340730A1-ED60-4E1C-BD31-D5A081D595D5}" srcOrd="0" destOrd="0" parTransId="{B938FFBA-FDEA-416C-8B46-512EB616368D}" sibTransId="{92A1623F-DC5E-48F1-8CF9-0C0183E3398E}"/>
    <dgm:cxn modelId="{9924060B-84FC-40F1-81C8-4FB5F42C12C4}" srcId="{484E9A04-D79E-4DE4-994A-A2B064F6E228}" destId="{B7EDD5E2-AF91-4689-A3F7-73DC1E04695F}" srcOrd="1" destOrd="0" parTransId="{857CD30B-A521-4066-AC07-501796AEDA95}" sibTransId="{690D06AC-9DBE-4823-BA62-F9DFF36AF78C}"/>
    <dgm:cxn modelId="{A9102E0C-FB97-401E-A56B-4353804675BA}" type="presOf" srcId="{340730A1-ED60-4E1C-BD31-D5A081D595D5}" destId="{B4308127-60D0-43B9-8092-8D47BCDACE5A}" srcOrd="0" destOrd="0" presId="urn:microsoft.com/office/officeart/2018/5/layout/CenteredIconLabelDescriptionList"/>
    <dgm:cxn modelId="{59C07240-9539-4677-B0E9-D6EA571876F2}" type="presOf" srcId="{B7EDD5E2-AF91-4689-A3F7-73DC1E04695F}" destId="{AAA63FE9-78E9-4342-9726-7E43E9953E50}" srcOrd="0" destOrd="0" presId="urn:microsoft.com/office/officeart/2018/5/layout/CenteredIconLabelDescriptionList"/>
    <dgm:cxn modelId="{3974434A-BAE8-4660-B464-F181A039FE9A}" type="presOf" srcId="{E7962ACD-7670-4DD4-94DB-B1B2FA8870C6}" destId="{447F8972-006B-4326-A86C-00EE9205BE9B}" srcOrd="0" destOrd="0" presId="urn:microsoft.com/office/officeart/2018/5/layout/CenteredIconLabelDescriptionList"/>
    <dgm:cxn modelId="{A6CD085C-00D7-443D-AFE1-A6495A273EF1}" type="presOf" srcId="{484E9A04-D79E-4DE4-994A-A2B064F6E228}" destId="{3072BFC1-ADEA-4FF0-A581-8BC60A3B74A7}" srcOrd="0" destOrd="0" presId="urn:microsoft.com/office/officeart/2018/5/layout/CenteredIconLabelDescriptionList"/>
    <dgm:cxn modelId="{6EC2445F-A7FD-44FE-8BBF-8D9FB4EFB375}" srcId="{484E9A04-D79E-4DE4-994A-A2B064F6E228}" destId="{8A7D5E88-2753-435B-AD61-B456735AD1EA}" srcOrd="2" destOrd="0" parTransId="{78310AE0-7541-4B80-84A3-216381A68C12}" sibTransId="{77183526-BC30-4478-92D5-E12384B62C46}"/>
    <dgm:cxn modelId="{EDEECFA3-691A-4A18-B3DD-2D38E4E119AA}" srcId="{E7962ACD-7670-4DD4-94DB-B1B2FA8870C6}" destId="{DC5D1B6D-1119-43A5-95C7-82227401BAD0}" srcOrd="0" destOrd="0" parTransId="{EA91ECE5-267E-4472-8CC2-372FC894D0C4}" sibTransId="{A71BA6B7-2043-4AB9-BF1E-0AD2CB5D4727}"/>
    <dgm:cxn modelId="{85059BAA-D182-4E8D-BB3B-E6ED0EF48FD4}" type="presOf" srcId="{253CFECB-E45F-4B9E-8B4E-AC4338611D9C}" destId="{58D9D62D-2416-410A-A075-A4603A33C358}" srcOrd="0" destOrd="0" presId="urn:microsoft.com/office/officeart/2018/5/layout/CenteredIconLabelDescriptionList"/>
    <dgm:cxn modelId="{7E5C31B4-A3C9-46FB-AEFF-2AA521E9ED9B}" type="presOf" srcId="{DC5D1B6D-1119-43A5-95C7-82227401BAD0}" destId="{A0269250-63B7-40EF-8B8D-92E6F709B5ED}" srcOrd="0" destOrd="0" presId="urn:microsoft.com/office/officeart/2018/5/layout/CenteredIconLabelDescriptionList"/>
    <dgm:cxn modelId="{50CF8EBE-0CC4-42D5-A04B-B17D661FFAD0}" srcId="{484E9A04-D79E-4DE4-994A-A2B064F6E228}" destId="{E7962ACD-7670-4DD4-94DB-B1B2FA8870C6}" srcOrd="0" destOrd="0" parTransId="{32F1E0AC-2693-45CF-8ACF-3D072B078CCD}" sibTransId="{3CB82043-14A9-41E5-8AA2-C4A49129DB72}"/>
    <dgm:cxn modelId="{2937F9E7-2843-4066-A51C-1B84C056F0D7}" type="presOf" srcId="{8A7D5E88-2753-435B-AD61-B456735AD1EA}" destId="{687826C3-896E-4944-B9F3-C4889A6298CE}" srcOrd="0" destOrd="0" presId="urn:microsoft.com/office/officeart/2018/5/layout/CenteredIconLabelDescriptionList"/>
    <dgm:cxn modelId="{FA7A14FD-18E1-4768-BB8F-B8B2E4F172BB}" srcId="{B7EDD5E2-AF91-4689-A3F7-73DC1E04695F}" destId="{253CFECB-E45F-4B9E-8B4E-AC4338611D9C}" srcOrd="0" destOrd="0" parTransId="{DC686C35-8FB6-407F-9F9A-21C9A5C44BCB}" sibTransId="{CCB246E7-EF2A-4EBD-88E1-D064F4070FF8}"/>
    <dgm:cxn modelId="{70E7C5A4-A257-494C-A735-758407B5EA88}" type="presParOf" srcId="{3072BFC1-ADEA-4FF0-A581-8BC60A3B74A7}" destId="{9750586D-4128-4293-A1BB-C019ED5691E4}" srcOrd="0" destOrd="0" presId="urn:microsoft.com/office/officeart/2018/5/layout/CenteredIconLabelDescriptionList"/>
    <dgm:cxn modelId="{3A3A43D2-1222-4A6B-8A6A-1C7087BE5CCF}" type="presParOf" srcId="{9750586D-4128-4293-A1BB-C019ED5691E4}" destId="{4E829232-7761-4952-8A44-806193D2B269}" srcOrd="0" destOrd="0" presId="urn:microsoft.com/office/officeart/2018/5/layout/CenteredIconLabelDescriptionList"/>
    <dgm:cxn modelId="{0A076D51-2C18-4F7A-9764-75207D8564B5}" type="presParOf" srcId="{9750586D-4128-4293-A1BB-C019ED5691E4}" destId="{2E4446AB-5C58-4E2D-A89E-F34F32D4A7D7}" srcOrd="1" destOrd="0" presId="urn:microsoft.com/office/officeart/2018/5/layout/CenteredIconLabelDescriptionList"/>
    <dgm:cxn modelId="{D262A337-6FAE-4175-B588-811F7A78EC87}" type="presParOf" srcId="{9750586D-4128-4293-A1BB-C019ED5691E4}" destId="{447F8972-006B-4326-A86C-00EE9205BE9B}" srcOrd="2" destOrd="0" presId="urn:microsoft.com/office/officeart/2018/5/layout/CenteredIconLabelDescriptionList"/>
    <dgm:cxn modelId="{3FE0E710-BAC2-43ED-8A77-7DB2EA4C7A6E}" type="presParOf" srcId="{9750586D-4128-4293-A1BB-C019ED5691E4}" destId="{A773ADC4-9CBA-4959-A8A9-1772274DB379}" srcOrd="3" destOrd="0" presId="urn:microsoft.com/office/officeart/2018/5/layout/CenteredIconLabelDescriptionList"/>
    <dgm:cxn modelId="{44987099-816D-431D-8473-47E9A2E13E89}" type="presParOf" srcId="{9750586D-4128-4293-A1BB-C019ED5691E4}" destId="{A0269250-63B7-40EF-8B8D-92E6F709B5ED}" srcOrd="4" destOrd="0" presId="urn:microsoft.com/office/officeart/2018/5/layout/CenteredIconLabelDescriptionList"/>
    <dgm:cxn modelId="{EA0A5994-4A71-40EA-8D7D-BF02F3BB2BF2}" type="presParOf" srcId="{3072BFC1-ADEA-4FF0-A581-8BC60A3B74A7}" destId="{5BDBB398-C1FD-4D07-8AB2-635814B00CF3}" srcOrd="1" destOrd="0" presId="urn:microsoft.com/office/officeart/2018/5/layout/CenteredIconLabelDescriptionList"/>
    <dgm:cxn modelId="{F2DA622A-76B1-4911-BE84-8D700BB448CC}" type="presParOf" srcId="{3072BFC1-ADEA-4FF0-A581-8BC60A3B74A7}" destId="{EADCBC34-58E1-4504-BE4F-72313819880B}" srcOrd="2" destOrd="0" presId="urn:microsoft.com/office/officeart/2018/5/layout/CenteredIconLabelDescriptionList"/>
    <dgm:cxn modelId="{22154360-93BF-4944-9C8D-59767C3F967C}" type="presParOf" srcId="{EADCBC34-58E1-4504-BE4F-72313819880B}" destId="{703893BD-D9E1-4342-96B0-42494861ED65}" srcOrd="0" destOrd="0" presId="urn:microsoft.com/office/officeart/2018/5/layout/CenteredIconLabelDescriptionList"/>
    <dgm:cxn modelId="{7F8D6DFB-46C2-4E23-AA5F-224AD7A067DD}" type="presParOf" srcId="{EADCBC34-58E1-4504-BE4F-72313819880B}" destId="{64EB3AB5-57EF-4D39-9788-43B9694D859E}" srcOrd="1" destOrd="0" presId="urn:microsoft.com/office/officeart/2018/5/layout/CenteredIconLabelDescriptionList"/>
    <dgm:cxn modelId="{6555670F-4E33-4050-8D98-5D5D1ED338CF}" type="presParOf" srcId="{EADCBC34-58E1-4504-BE4F-72313819880B}" destId="{AAA63FE9-78E9-4342-9726-7E43E9953E50}" srcOrd="2" destOrd="0" presId="urn:microsoft.com/office/officeart/2018/5/layout/CenteredIconLabelDescriptionList"/>
    <dgm:cxn modelId="{59012D21-D543-4617-8BA4-713B3C67CEA8}" type="presParOf" srcId="{EADCBC34-58E1-4504-BE4F-72313819880B}" destId="{D18223D0-0532-4076-BA44-1496B47828EB}" srcOrd="3" destOrd="0" presId="urn:microsoft.com/office/officeart/2018/5/layout/CenteredIconLabelDescriptionList"/>
    <dgm:cxn modelId="{74D1A3DE-A66E-4AA7-9684-244238810690}" type="presParOf" srcId="{EADCBC34-58E1-4504-BE4F-72313819880B}" destId="{58D9D62D-2416-410A-A075-A4603A33C358}" srcOrd="4" destOrd="0" presId="urn:microsoft.com/office/officeart/2018/5/layout/CenteredIconLabelDescriptionList"/>
    <dgm:cxn modelId="{F34C9417-EB0F-4555-A73B-7028E298A555}" type="presParOf" srcId="{3072BFC1-ADEA-4FF0-A581-8BC60A3B74A7}" destId="{B7755D31-1F7E-4BE5-AD12-14146852BD7C}" srcOrd="3" destOrd="0" presId="urn:microsoft.com/office/officeart/2018/5/layout/CenteredIconLabelDescriptionList"/>
    <dgm:cxn modelId="{B0F57A87-130D-45E8-B99C-0B5646C53585}" type="presParOf" srcId="{3072BFC1-ADEA-4FF0-A581-8BC60A3B74A7}" destId="{7E465307-1608-4677-8BA2-F8E76CEE9FD3}" srcOrd="4" destOrd="0" presId="urn:microsoft.com/office/officeart/2018/5/layout/CenteredIconLabelDescriptionList"/>
    <dgm:cxn modelId="{5F9EE764-AD8A-429D-AEC2-20E18B63EB67}" type="presParOf" srcId="{7E465307-1608-4677-8BA2-F8E76CEE9FD3}" destId="{49D1D4FB-FCF3-441A-A208-4DCBFFB07571}" srcOrd="0" destOrd="0" presId="urn:microsoft.com/office/officeart/2018/5/layout/CenteredIconLabelDescriptionList"/>
    <dgm:cxn modelId="{28453A2C-3AB2-4372-9526-9AA54EDD628F}" type="presParOf" srcId="{7E465307-1608-4677-8BA2-F8E76CEE9FD3}" destId="{D611558B-1DBB-41C4-8D9C-69D67948B6B5}" srcOrd="1" destOrd="0" presId="urn:microsoft.com/office/officeart/2018/5/layout/CenteredIconLabelDescriptionList"/>
    <dgm:cxn modelId="{D6138BD3-F95F-4F05-BF91-0D56E9CEDFC1}" type="presParOf" srcId="{7E465307-1608-4677-8BA2-F8E76CEE9FD3}" destId="{687826C3-896E-4944-B9F3-C4889A6298CE}" srcOrd="2" destOrd="0" presId="urn:microsoft.com/office/officeart/2018/5/layout/CenteredIconLabelDescriptionList"/>
    <dgm:cxn modelId="{2A08D727-1379-41FF-9527-5AAACCD40D57}" type="presParOf" srcId="{7E465307-1608-4677-8BA2-F8E76CEE9FD3}" destId="{CCFA23E8-AC69-46FB-A3A5-36C89914BB25}" srcOrd="3" destOrd="0" presId="urn:microsoft.com/office/officeart/2018/5/layout/CenteredIconLabelDescriptionList"/>
    <dgm:cxn modelId="{8E0A0DB6-558D-4A7C-B5B3-41E7BC9930D4}" type="presParOf" srcId="{7E465307-1608-4677-8BA2-F8E76CEE9FD3}" destId="{B4308127-60D0-43B9-8092-8D47BCDACE5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77A9E-5367-BB40-9892-D70C8350FD60}">
      <dsp:nvSpPr>
        <dsp:cNvPr id="0" name=""/>
        <dsp:cNvSpPr/>
      </dsp:nvSpPr>
      <dsp:spPr>
        <a:xfrm>
          <a:off x="0" y="153816"/>
          <a:ext cx="4172212" cy="444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Data Cleaning</a:t>
          </a:r>
          <a:r>
            <a:rPr lang="en-US" sz="1900" b="0" i="0" kern="1200" baseline="0"/>
            <a:t>: </a:t>
          </a:r>
          <a:endParaRPr lang="en-US" sz="1900" kern="1200"/>
        </a:p>
      </dsp:txBody>
      <dsp:txXfrm>
        <a:off x="21704" y="175520"/>
        <a:ext cx="4128804" cy="401192"/>
      </dsp:txXfrm>
    </dsp:sp>
    <dsp:sp modelId="{F01FAFA1-8A52-124B-8FC5-E9E01712647F}">
      <dsp:nvSpPr>
        <dsp:cNvPr id="0" name=""/>
        <dsp:cNvSpPr/>
      </dsp:nvSpPr>
      <dsp:spPr>
        <a:xfrm>
          <a:off x="0" y="598416"/>
          <a:ext cx="4172212" cy="452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468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 dirty="0"/>
            <a:t>Handled missing values and infinity values to ensure mathematical stability.</a:t>
          </a:r>
          <a:endParaRPr lang="en-US" sz="1500" kern="1200" dirty="0"/>
        </a:p>
      </dsp:txBody>
      <dsp:txXfrm>
        <a:off x="0" y="598416"/>
        <a:ext cx="4172212" cy="452295"/>
      </dsp:txXfrm>
    </dsp:sp>
    <dsp:sp modelId="{DDFC36AC-674E-BF4C-A8DC-FA79963806BE}">
      <dsp:nvSpPr>
        <dsp:cNvPr id="0" name=""/>
        <dsp:cNvSpPr/>
      </dsp:nvSpPr>
      <dsp:spPr>
        <a:xfrm>
          <a:off x="0" y="1050711"/>
          <a:ext cx="4172212" cy="44460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Feature Engineering</a:t>
          </a:r>
          <a:r>
            <a:rPr lang="en-US" sz="1900" b="0" i="0" kern="1200" baseline="0"/>
            <a:t>: </a:t>
          </a:r>
          <a:endParaRPr lang="en-US" sz="1900" kern="1200"/>
        </a:p>
      </dsp:txBody>
      <dsp:txXfrm>
        <a:off x="21704" y="1072415"/>
        <a:ext cx="4128804" cy="401192"/>
      </dsp:txXfrm>
    </dsp:sp>
    <dsp:sp modelId="{E3697412-7137-F640-A033-052423500C01}">
      <dsp:nvSpPr>
        <dsp:cNvPr id="0" name=""/>
        <dsp:cNvSpPr/>
      </dsp:nvSpPr>
      <dsp:spPr>
        <a:xfrm>
          <a:off x="0" y="1495311"/>
          <a:ext cx="4172212" cy="707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468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baseline="0"/>
            <a:t>Identified and removed highly correlated variables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baseline="0" dirty="0"/>
            <a:t>Select key performance drivers</a:t>
          </a:r>
          <a:endParaRPr lang="en-US" sz="1500" kern="1200" dirty="0"/>
        </a:p>
      </dsp:txBody>
      <dsp:txXfrm>
        <a:off x="0" y="1495311"/>
        <a:ext cx="4172212" cy="707940"/>
      </dsp:txXfrm>
    </dsp:sp>
    <dsp:sp modelId="{68139213-5AD1-D743-AE1C-E4AB0525D448}">
      <dsp:nvSpPr>
        <dsp:cNvPr id="0" name=""/>
        <dsp:cNvSpPr/>
      </dsp:nvSpPr>
      <dsp:spPr>
        <a:xfrm>
          <a:off x="0" y="2203251"/>
          <a:ext cx="4172212" cy="44460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Transformations</a:t>
          </a:r>
          <a:r>
            <a:rPr lang="en-US" sz="1900" b="0" i="0" kern="1200" baseline="0"/>
            <a:t>: </a:t>
          </a:r>
          <a:endParaRPr lang="en-US" sz="1900" kern="1200"/>
        </a:p>
      </dsp:txBody>
      <dsp:txXfrm>
        <a:off x="21704" y="2224955"/>
        <a:ext cx="4128804" cy="401192"/>
      </dsp:txXfrm>
    </dsp:sp>
    <dsp:sp modelId="{E37521E0-69D0-F14C-8382-C24708485D22}">
      <dsp:nvSpPr>
        <dsp:cNvPr id="0" name=""/>
        <dsp:cNvSpPr/>
      </dsp:nvSpPr>
      <dsp:spPr>
        <a:xfrm>
          <a:off x="0" y="2647851"/>
          <a:ext cx="4172212" cy="648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468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Applied Log-transformation to skewed numerical </a:t>
          </a:r>
          <a:r>
            <a:rPr lang="en-US" sz="1500" kern="1200" baseline="0"/>
            <a:t>features (e.g., Income) and performed Z-score normalization for scale consistency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0" y="2647851"/>
        <a:ext cx="4172212" cy="648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84B11-301F-E74A-93A6-1E0BFD63E348}">
      <dsp:nvSpPr>
        <dsp:cNvPr id="0" name=""/>
        <dsp:cNvSpPr/>
      </dsp:nvSpPr>
      <dsp:spPr>
        <a:xfrm>
          <a:off x="48" y="11681"/>
          <a:ext cx="4642279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W" sz="1800" b="1" i="0" kern="1200" baseline="0" dirty="0"/>
            <a:t>Implementation</a:t>
          </a:r>
          <a:endParaRPr lang="en-TW" sz="1800" kern="1200" dirty="0"/>
        </a:p>
      </dsp:txBody>
      <dsp:txXfrm>
        <a:off x="48" y="11681"/>
        <a:ext cx="4642279" cy="518400"/>
      </dsp:txXfrm>
    </dsp:sp>
    <dsp:sp modelId="{D074529E-EA23-2B43-A0AE-4E9F7B098351}">
      <dsp:nvSpPr>
        <dsp:cNvPr id="0" name=""/>
        <dsp:cNvSpPr/>
      </dsp:nvSpPr>
      <dsp:spPr>
        <a:xfrm>
          <a:off x="48" y="530081"/>
          <a:ext cx="4642279" cy="13093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TW" sz="1600" b="0" i="0" kern="1200" baseline="0" dirty="0"/>
            <a:t>The majority class (non-responders) was split into three distinct subsets.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TW" sz="1600" b="0" i="0" kern="1200" baseline="0" dirty="0"/>
            <a:t>Each was paired with the full set of minority samples (responders) to train three separate sub-models.</a:t>
          </a:r>
          <a:endParaRPr lang="en-US" sz="1600" kern="1200" dirty="0"/>
        </a:p>
      </dsp:txBody>
      <dsp:txXfrm>
        <a:off x="48" y="530081"/>
        <a:ext cx="4642279" cy="1309365"/>
      </dsp:txXfrm>
    </dsp:sp>
    <dsp:sp modelId="{FA042041-6541-FE49-B8AD-DE29BE439AE1}">
      <dsp:nvSpPr>
        <dsp:cNvPr id="0" name=""/>
        <dsp:cNvSpPr/>
      </dsp:nvSpPr>
      <dsp:spPr>
        <a:xfrm>
          <a:off x="5292247" y="11681"/>
          <a:ext cx="4642279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W" sz="1800" b="1" i="0" kern="1200" baseline="0" dirty="0"/>
            <a:t>Aggregation</a:t>
          </a:r>
          <a:endParaRPr lang="en-TW" sz="1800" kern="1200" dirty="0"/>
        </a:p>
      </dsp:txBody>
      <dsp:txXfrm>
        <a:off x="5292247" y="11681"/>
        <a:ext cx="4642279" cy="518400"/>
      </dsp:txXfrm>
    </dsp:sp>
    <dsp:sp modelId="{510D3EAC-FD93-1440-B960-7C5537B4AABC}">
      <dsp:nvSpPr>
        <dsp:cNvPr id="0" name=""/>
        <dsp:cNvSpPr/>
      </dsp:nvSpPr>
      <dsp:spPr>
        <a:xfrm>
          <a:off x="5292247" y="530081"/>
          <a:ext cx="4642279" cy="13093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TW" sz="1600" b="0" i="0" kern="1200" baseline="0" dirty="0"/>
            <a:t>Final predictions were derived by </a:t>
          </a:r>
          <a:r>
            <a:rPr lang="en-TW" sz="1600" b="1" i="0" kern="1200" baseline="0" dirty="0"/>
            <a:t>averaging</a:t>
          </a:r>
          <a:r>
            <a:rPr lang="en-TW" sz="1600" b="0" i="0" kern="1200" baseline="0" dirty="0"/>
            <a:t> the probabilities from all three models.</a:t>
          </a:r>
          <a:endParaRPr lang="en-US" sz="1600" kern="1200" dirty="0"/>
        </a:p>
      </dsp:txBody>
      <dsp:txXfrm>
        <a:off x="5292247" y="530081"/>
        <a:ext cx="4642279" cy="13093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29232-7761-4952-8A44-806193D2B269}">
      <dsp:nvSpPr>
        <dsp:cNvPr id="0" name=""/>
        <dsp:cNvSpPr/>
      </dsp:nvSpPr>
      <dsp:spPr>
        <a:xfrm>
          <a:off x="922904" y="490049"/>
          <a:ext cx="987820" cy="9878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F8972-006B-4326-A86C-00EE9205BE9B}">
      <dsp:nvSpPr>
        <dsp:cNvPr id="0" name=""/>
        <dsp:cNvSpPr/>
      </dsp:nvSpPr>
      <dsp:spPr>
        <a:xfrm>
          <a:off x="5642" y="1586619"/>
          <a:ext cx="2822343" cy="423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i="0" kern="1200" baseline="0"/>
            <a:t>Strategic Recommendation</a:t>
          </a:r>
          <a:endParaRPr lang="en-US" sz="1700" kern="1200" dirty="0"/>
        </a:p>
      </dsp:txBody>
      <dsp:txXfrm>
        <a:off x="5642" y="1586619"/>
        <a:ext cx="2822343" cy="423351"/>
      </dsp:txXfrm>
    </dsp:sp>
    <dsp:sp modelId="{A0269250-63B7-40EF-8B8D-92E6F709B5ED}">
      <dsp:nvSpPr>
        <dsp:cNvPr id="0" name=""/>
        <dsp:cNvSpPr/>
      </dsp:nvSpPr>
      <dsp:spPr>
        <a:xfrm>
          <a:off x="5642" y="2060552"/>
          <a:ext cx="2822343" cy="95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Given the high Recall rate provided by CatBoost, the marketing department should target </a:t>
          </a:r>
          <a:r>
            <a:rPr lang="en-US" sz="1300" b="1" i="0" kern="1200" baseline="0"/>
            <a:t>all</a:t>
          </a:r>
          <a:r>
            <a:rPr lang="en-US" sz="1300" b="0" i="0" kern="1200" baseline="0"/>
            <a:t> customers predicted as "1" by the model to maximize campaign reach.</a:t>
          </a:r>
          <a:endParaRPr lang="en-US" sz="1300" kern="1200"/>
        </a:p>
      </dsp:txBody>
      <dsp:txXfrm>
        <a:off x="5642" y="2060552"/>
        <a:ext cx="2822343" cy="958563"/>
      </dsp:txXfrm>
    </dsp:sp>
    <dsp:sp modelId="{703893BD-D9E1-4342-96B0-42494861ED65}">
      <dsp:nvSpPr>
        <dsp:cNvPr id="0" name=""/>
        <dsp:cNvSpPr/>
      </dsp:nvSpPr>
      <dsp:spPr>
        <a:xfrm>
          <a:off x="4239158" y="490049"/>
          <a:ext cx="987820" cy="9878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63FE9-78E9-4342-9726-7E43E9953E50}">
      <dsp:nvSpPr>
        <dsp:cNvPr id="0" name=""/>
        <dsp:cNvSpPr/>
      </dsp:nvSpPr>
      <dsp:spPr>
        <a:xfrm>
          <a:off x="3321896" y="1586619"/>
          <a:ext cx="2822343" cy="423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i="0" kern="1200" baseline="0"/>
            <a:t>Budget Allocation</a:t>
          </a:r>
          <a:endParaRPr lang="en-US" sz="1700" kern="1200" dirty="0"/>
        </a:p>
      </dsp:txBody>
      <dsp:txXfrm>
        <a:off x="3321896" y="1586619"/>
        <a:ext cx="2822343" cy="423351"/>
      </dsp:txXfrm>
    </dsp:sp>
    <dsp:sp modelId="{58D9D62D-2416-410A-A075-A4603A33C358}">
      <dsp:nvSpPr>
        <dsp:cNvPr id="0" name=""/>
        <dsp:cNvSpPr/>
      </dsp:nvSpPr>
      <dsp:spPr>
        <a:xfrm>
          <a:off x="3321896" y="2060552"/>
          <a:ext cx="2822343" cy="95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Since the budget is sufficient, the probability threshold can be further </a:t>
          </a:r>
          <a:r>
            <a:rPr lang="en-US" sz="1300" b="1" i="0" kern="1200" baseline="0"/>
            <a:t>lowered</a:t>
          </a:r>
          <a:r>
            <a:rPr lang="en-US" sz="1300" b="0" i="0" kern="1200" baseline="0"/>
            <a:t> (e.g., from 0.5 to 0.4) to expand the target list and ensure maximum conversion.</a:t>
          </a:r>
          <a:endParaRPr lang="en-US" sz="1300" kern="1200"/>
        </a:p>
      </dsp:txBody>
      <dsp:txXfrm>
        <a:off x="3321896" y="2060552"/>
        <a:ext cx="2822343" cy="958563"/>
      </dsp:txXfrm>
    </dsp:sp>
    <dsp:sp modelId="{49D1D4FB-FCF3-441A-A208-4DCBFFB07571}">
      <dsp:nvSpPr>
        <dsp:cNvPr id="0" name=""/>
        <dsp:cNvSpPr/>
      </dsp:nvSpPr>
      <dsp:spPr>
        <a:xfrm>
          <a:off x="7555412" y="490049"/>
          <a:ext cx="987820" cy="9878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826C3-896E-4944-B9F3-C4889A6298CE}">
      <dsp:nvSpPr>
        <dsp:cNvPr id="0" name=""/>
        <dsp:cNvSpPr/>
      </dsp:nvSpPr>
      <dsp:spPr>
        <a:xfrm>
          <a:off x="6638150" y="1586619"/>
          <a:ext cx="2822343" cy="423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1" i="0" kern="1200" baseline="0"/>
            <a:t>Future Work</a:t>
          </a:r>
          <a:endParaRPr lang="en-US" sz="1700" kern="1200" dirty="0"/>
        </a:p>
      </dsp:txBody>
      <dsp:txXfrm>
        <a:off x="6638150" y="1586619"/>
        <a:ext cx="2822343" cy="423351"/>
      </dsp:txXfrm>
    </dsp:sp>
    <dsp:sp modelId="{B4308127-60D0-43B9-8092-8D47BCDACE5A}">
      <dsp:nvSpPr>
        <dsp:cNvPr id="0" name=""/>
        <dsp:cNvSpPr/>
      </dsp:nvSpPr>
      <dsp:spPr>
        <a:xfrm>
          <a:off x="6638150" y="2060552"/>
          <a:ext cx="2822343" cy="958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Future iterations should incorporate dynamic data, such as "discount preference" or "web clickstream data," to refine Precision without sacrificing current Recall levels.</a:t>
          </a:r>
          <a:endParaRPr lang="en-US" sz="1300" kern="1200"/>
        </a:p>
      </dsp:txBody>
      <dsp:txXfrm>
        <a:off x="6638150" y="2060552"/>
        <a:ext cx="2822343" cy="958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39B32-2140-FE42-ABFB-80D5505D134D}" type="datetimeFigureOut">
              <a:rPr lang="en-TW" smtClean="0"/>
              <a:t>2026/2/5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AFEFF3-ED54-174B-B733-490500B7512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4373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FEFF3-ED54-174B-B733-490500B75123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1949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AFEFF3-ED54-174B-B733-490500B75123}" type="slidenum">
              <a:rPr lang="en-TW" smtClean="0"/>
              <a:t>10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7716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W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8760-0D73-5A3D-1A7C-029A303A6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W" dirty="0"/>
              <a:t>iFood Marketing Prediction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E71DE-8578-7037-BCCE-02EEBC744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962644" cy="977621"/>
          </a:xfrm>
        </p:spPr>
        <p:txBody>
          <a:bodyPr>
            <a:normAutofit/>
          </a:bodyPr>
          <a:lstStyle/>
          <a:p>
            <a:r>
              <a:rPr lang="en-US" sz="1050" dirty="0"/>
              <a:t>Data Set:</a:t>
            </a:r>
            <a:br>
              <a:rPr lang="en-US" sz="1050" dirty="0"/>
            </a:br>
            <a:r>
              <a:rPr lang="en-US" sz="1050" dirty="0"/>
              <a:t>https://</a:t>
            </a:r>
            <a:r>
              <a:rPr lang="en-US" sz="1050" dirty="0" err="1"/>
              <a:t>www.kaggle.com</a:t>
            </a:r>
            <a:r>
              <a:rPr lang="en-US" sz="1050" dirty="0"/>
              <a:t>/datasets/</a:t>
            </a:r>
            <a:r>
              <a:rPr lang="en-US" sz="1050" dirty="0" err="1"/>
              <a:t>jackdaoud</a:t>
            </a:r>
            <a:r>
              <a:rPr lang="en-US" sz="1050" dirty="0"/>
              <a:t>/marketing-data/</a:t>
            </a:r>
            <a:r>
              <a:rPr lang="en-US" sz="1050" dirty="0" err="1"/>
              <a:t>data?select</a:t>
            </a:r>
            <a:r>
              <a:rPr lang="en-US" sz="1050" dirty="0"/>
              <a:t>=</a:t>
            </a:r>
            <a:r>
              <a:rPr lang="en-US" sz="1050" dirty="0" err="1"/>
              <a:t>ifood_df.csv</a:t>
            </a:r>
            <a:endParaRPr lang="en-US" sz="1050" dirty="0"/>
          </a:p>
          <a:p>
            <a:endParaRPr lang="en-TW" sz="1050" dirty="0"/>
          </a:p>
        </p:txBody>
      </p:sp>
    </p:spTree>
    <p:extLst>
      <p:ext uri="{BB962C8B-B14F-4D97-AF65-F5344CB8AC3E}">
        <p14:creationId xmlns:p14="http://schemas.microsoft.com/office/powerpoint/2010/main" val="327276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77D55-7CB9-CE70-6B84-3416390F9B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grayscl/>
          </a:blip>
          <a:srcRect r="3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910ED-38AA-D4D0-58FC-7CF35EDB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  <a:endParaRPr lang="en-TW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603C5-F281-8B2D-2A60-7CBE050DF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 dirty="0"/>
              <a:t>Problem Statement</a:t>
            </a:r>
            <a:r>
              <a:rPr lang="en-US" sz="1500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sz="1500" dirty="0"/>
              <a:t>In retail marketing, the opportunity cost of missing a potential customer is significantly higher than the marginal cost of sending an additional advertisement. Therefore, a high-sensitivity model is required.</a:t>
            </a:r>
          </a:p>
          <a:p>
            <a:pPr>
              <a:lnSpc>
                <a:spcPct val="110000"/>
              </a:lnSpc>
            </a:pPr>
            <a:r>
              <a:rPr lang="en-US" sz="1500" b="1" dirty="0"/>
              <a:t>Objective</a:t>
            </a:r>
            <a:r>
              <a:rPr lang="en-US" sz="1500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sz="1500" dirty="0"/>
              <a:t>To develop a predictive model using machine learning to identify customers with a high probability of responding to the next campaign based on their demographics, purchasing behavior, and historical engagement.</a:t>
            </a:r>
          </a:p>
          <a:p>
            <a:pPr>
              <a:lnSpc>
                <a:spcPct val="110000"/>
              </a:lnSpc>
            </a:pPr>
            <a:r>
              <a:rPr lang="en-US" sz="1500" b="1" dirty="0"/>
              <a:t>Primary KPI</a:t>
            </a:r>
            <a:r>
              <a:rPr lang="en-US" sz="1500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Recall</a:t>
            </a:r>
            <a:r>
              <a:rPr lang="en-US" sz="1500" dirty="0"/>
              <a:t>: The main metric.</a:t>
            </a:r>
          </a:p>
          <a:p>
            <a:pPr lvl="1">
              <a:lnSpc>
                <a:spcPct val="110000"/>
              </a:lnSpc>
            </a:pPr>
            <a:r>
              <a:rPr lang="en-US" sz="1500" b="1" dirty="0"/>
              <a:t>AUC-ROC</a:t>
            </a:r>
            <a:r>
              <a:rPr lang="en-US" sz="1500" dirty="0"/>
              <a:t>: The auxiliary metric.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389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C770460-1E05-96A9-FE5F-6D12791F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sz="2200"/>
              <a:t>Execution Process - Data Exploration &amp; Pre-processing (EDA)</a:t>
            </a:r>
            <a:endParaRPr lang="en-TW" sz="2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4CFF90-D78E-5334-0600-06C3294E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922367"/>
            <a:ext cx="4960442" cy="442719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81E765D-E984-D109-C4FC-B3F535ECD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735727"/>
              </p:ext>
            </p:extLst>
          </p:nvPr>
        </p:nvGraphicFramePr>
        <p:xfrm>
          <a:off x="1451581" y="2015732"/>
          <a:ext cx="4172212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8387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B2D0FFB-BB4C-1C66-D083-54C76F1E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10207020" cy="1049235"/>
          </a:xfrm>
        </p:spPr>
        <p:txBody>
          <a:bodyPr>
            <a:normAutofit/>
          </a:bodyPr>
          <a:lstStyle/>
          <a:p>
            <a:r>
              <a:rPr lang="en-US" dirty="0"/>
              <a:t>Model Selection</a:t>
            </a:r>
            <a:endParaRPr lang="en-TW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E08D54-18D5-5FE1-1A75-271340A159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1" y="2015732"/>
            <a:ext cx="4172212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W" altLang="en-TW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comparative analysis was performed across several industry-standard algorithms: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W" altLang="en-TW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</a:t>
            </a:r>
            <a:r>
              <a:rPr kumimoji="0" lang="en-TW" altLang="en-TW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Established a robust baseline.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W" altLang="en-TW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XGBoost / LightGBM</a:t>
            </a:r>
            <a:r>
              <a:rPr kumimoji="0" lang="en-TW" altLang="en-TW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Demonstrated high precision but remained conservative in capturing the minority class (responders) under imbalanced conditions.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W" altLang="en-TW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CatBoost (Selected)</a:t>
            </a:r>
            <a:r>
              <a:rPr kumimoji="0" lang="en-TW" altLang="en-TW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Emerged as the winner due to its superior handling of categorical features and symmetric tree structure, which yielded the highest </a:t>
            </a:r>
            <a:r>
              <a:rPr kumimoji="0" lang="en-TW" altLang="en-TW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kumimoji="0" lang="en-TW" altLang="en-TW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 rates.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74070F-5338-AD9A-7FAE-7D996B490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958762"/>
              </p:ext>
            </p:extLst>
          </p:nvPr>
        </p:nvGraphicFramePr>
        <p:xfrm>
          <a:off x="6496092" y="2015732"/>
          <a:ext cx="4823306" cy="2878034"/>
        </p:xfrm>
        <a:graphic>
          <a:graphicData uri="http://schemas.openxmlformats.org/drawingml/2006/table">
            <a:tbl>
              <a:tblPr/>
              <a:tblGrid>
                <a:gridCol w="1146948">
                  <a:extLst>
                    <a:ext uri="{9D8B030D-6E8A-4147-A177-3AD203B41FA5}">
                      <a16:colId xmlns:a16="http://schemas.microsoft.com/office/drawing/2014/main" val="3719762264"/>
                    </a:ext>
                  </a:extLst>
                </a:gridCol>
                <a:gridCol w="1040968">
                  <a:extLst>
                    <a:ext uri="{9D8B030D-6E8A-4147-A177-3AD203B41FA5}">
                      <a16:colId xmlns:a16="http://schemas.microsoft.com/office/drawing/2014/main" val="936293808"/>
                    </a:ext>
                  </a:extLst>
                </a:gridCol>
                <a:gridCol w="1594422">
                  <a:extLst>
                    <a:ext uri="{9D8B030D-6E8A-4147-A177-3AD203B41FA5}">
                      <a16:colId xmlns:a16="http://schemas.microsoft.com/office/drawing/2014/main" val="659101908"/>
                    </a:ext>
                  </a:extLst>
                </a:gridCol>
                <a:gridCol w="1040968">
                  <a:extLst>
                    <a:ext uri="{9D8B030D-6E8A-4147-A177-3AD203B41FA5}">
                      <a16:colId xmlns:a16="http://schemas.microsoft.com/office/drawing/2014/main" val="78179435"/>
                    </a:ext>
                  </a:extLst>
                </a:gridCol>
              </a:tblGrid>
              <a:tr h="7411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600" b="0" i="0" u="none" strike="noStrike" dirty="0">
                          <a:effectLst/>
                          <a:latin typeface="Helvetica" panose="020B0604020202020204" pitchFamily="34" charset="0"/>
                        </a:rPr>
                      </a:b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XGBoost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RandomForest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Catboost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207984"/>
                  </a:ext>
                </a:extLst>
              </a:tr>
              <a:tr h="52809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F1 Score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0.5505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Helvetica Neue" panose="02000503000000020004"/>
                        </a:rPr>
                        <a:t>0.67</a:t>
                      </a:r>
                      <a:endParaRPr lang="en-US" sz="1600" b="1" i="0" u="none" strike="noStrike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0.61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373072"/>
                  </a:ext>
                </a:extLst>
              </a:tr>
              <a:tr h="433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Precision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Helvetica Neue" panose="02000503000000020004"/>
                        </a:rPr>
                        <a:t>0.7143</a:t>
                      </a:r>
                      <a:endParaRPr lang="en-US" sz="1600" b="1" i="0" u="none" strike="noStrike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0.47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0.55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226159"/>
                  </a:ext>
                </a:extLst>
              </a:tr>
              <a:tr h="433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Recall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0.4478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0.36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Helvetica Neue" panose="02000503000000020004"/>
                        </a:rPr>
                        <a:t>0.70</a:t>
                      </a:r>
                      <a:endParaRPr lang="en-US" sz="1600" b="1" i="0" u="none" strike="noStrike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148458"/>
                  </a:ext>
                </a:extLst>
              </a:tr>
              <a:tr h="74118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AUC Score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0.8944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0.8753</a:t>
                      </a:r>
                      <a:endParaRPr lang="en-US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sz="1600" b="1" i="0" u="none" strike="noStrike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Helvetica Neue" panose="02000503000000020004"/>
                        </a:rPr>
                        <a:t>0.9092</a:t>
                      </a:r>
                      <a:endParaRPr lang="en-US" sz="1600" b="1" i="0" u="none" strike="noStrike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24186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9555B21-09DE-90E6-EDBC-7D3B42548B19}"/>
              </a:ext>
            </a:extLst>
          </p:cNvPr>
          <p:cNvSpPr/>
          <p:nvPr/>
        </p:nvSpPr>
        <p:spPr>
          <a:xfrm>
            <a:off x="10267720" y="2015732"/>
            <a:ext cx="1051678" cy="287803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pic>
        <p:nvPicPr>
          <p:cNvPr id="4099" name="Picture 3" descr="Crown icon design on transparent background PNG">
            <a:extLst>
              <a:ext uri="{FF2B5EF4-FFF2-40B4-BE49-F238E27FC236}">
                <a16:creationId xmlns:a16="http://schemas.microsoft.com/office/drawing/2014/main" id="{D08613A6-0C75-91E8-B53D-2810015D3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354" y="1512274"/>
            <a:ext cx="644409" cy="55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57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213C-BD27-C5C1-B8A5-F30C1D91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TW" dirty="0"/>
              <a:t>Why Recall Rate? Why CatBoost?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E448-CB09-C762-262C-2BA7AEFEA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r>
              <a:rPr lang="en-TW" dirty="0"/>
              <a:t>Confusion Matrix</a:t>
            </a:r>
          </a:p>
          <a:p>
            <a:pPr lvl="1"/>
            <a:r>
              <a:rPr lang="en-US" b="1" dirty="0"/>
              <a:t>A tabular performance evaluation tool for machine learning classification algorithms that displays the number of correct and incorrect predictions, broken down by class.</a:t>
            </a:r>
            <a:endParaRPr lang="en-TW" dirty="0"/>
          </a:p>
        </p:txBody>
      </p:sp>
      <p:pic>
        <p:nvPicPr>
          <p:cNvPr id="8200" name="Picture 8" descr="Confusion Matrix, Precision, and Recall - Train in Data's Blog">
            <a:extLst>
              <a:ext uri="{FF2B5EF4-FFF2-40B4-BE49-F238E27FC236}">
                <a16:creationId xmlns:a16="http://schemas.microsoft.com/office/drawing/2014/main" id="{8EB24E24-5672-B5B4-5ABE-1E44A615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2428272"/>
            <a:ext cx="3500715" cy="26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47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030F5-0D26-A39C-B734-67FF842E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Why Recall Rate? Why CatBoost? (2/2)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1A9B1-23B2-AE34-4D37-6EE444DE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1559151"/>
            <a:ext cx="4645152" cy="801943"/>
          </a:xfrm>
        </p:spPr>
        <p:txBody>
          <a:bodyPr/>
          <a:lstStyle/>
          <a:p>
            <a:r>
              <a:rPr lang="en-TW" dirty="0"/>
              <a:t>Percision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D0970F3-D457-B501-44B4-AE58E314589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447191" y="2363871"/>
                <a:ext cx="4645152" cy="26444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percentage of predicted positives that are actually positive.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TW" dirty="0"/>
              </a:p>
              <a:p>
                <a:r>
                  <a:rPr lang="en-US" dirty="0"/>
                  <a:t>Best For: when False Positives are expensive or dangerous (e.g., flagging legitimate emails as spam).</a:t>
                </a:r>
                <a:endParaRPr lang="en-TW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D0970F3-D457-B501-44B4-AE58E31458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447191" y="2363871"/>
                <a:ext cx="4645152" cy="2644457"/>
              </a:xfrm>
              <a:blipFill>
                <a:blip r:embed="rId3"/>
                <a:stretch>
                  <a:fillRect l="-1090" t="-95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B2702-4F5C-9FD8-6687-7EABA4D52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2362" y="1562605"/>
            <a:ext cx="4645152" cy="802237"/>
          </a:xfrm>
        </p:spPr>
        <p:txBody>
          <a:bodyPr/>
          <a:lstStyle/>
          <a:p>
            <a:r>
              <a:rPr lang="en-TW" dirty="0"/>
              <a:t>Recall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98203CC-E093-D41E-EDB9-EDA84F51AE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412362" y="2361093"/>
                <a:ext cx="4645152" cy="2637371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The percentage of actual positives correctly identified by the model.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TW" dirty="0"/>
              </a:p>
              <a:p>
                <a:r>
                  <a:rPr lang="en-TW" dirty="0"/>
                  <a:t>Best For: when </a:t>
                </a:r>
                <a:r>
                  <a:rPr lang="en-US" dirty="0"/>
                  <a:t>missing a positive instance is dangerous or costly (e.g., missing a cancer diagnosis or fraud detection).</a:t>
                </a:r>
                <a:endParaRPr lang="en-TW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98203CC-E093-D41E-EDB9-EDA84F51A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412362" y="2361093"/>
                <a:ext cx="4645152" cy="2637371"/>
              </a:xfrm>
              <a:blipFill>
                <a:blip r:embed="rId4"/>
                <a:stretch>
                  <a:fillRect l="-817" b="-95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1D2704-2D24-3461-C5A6-C14D4AF47371}"/>
              </a:ext>
            </a:extLst>
          </p:cNvPr>
          <p:cNvSpPr/>
          <p:nvPr/>
        </p:nvSpPr>
        <p:spPr>
          <a:xfrm>
            <a:off x="1355614" y="5008328"/>
            <a:ext cx="9629975" cy="9768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/>
              <a:t>In this case, we assume the marketing budget is sufficient, and we want to detect as many positive responses as possible. Therefore, Recall Rate will be considered as a major measure index.</a:t>
            </a:r>
          </a:p>
        </p:txBody>
      </p:sp>
      <p:sp>
        <p:nvSpPr>
          <p:cNvPr id="8" name="6-Point Star 7">
            <a:extLst>
              <a:ext uri="{FF2B5EF4-FFF2-40B4-BE49-F238E27FC236}">
                <a16:creationId xmlns:a16="http://schemas.microsoft.com/office/drawing/2014/main" id="{09A28D8C-C0FA-8CFB-BA2F-B1A4E5D795F0}"/>
              </a:ext>
            </a:extLst>
          </p:cNvPr>
          <p:cNvSpPr/>
          <p:nvPr/>
        </p:nvSpPr>
        <p:spPr>
          <a:xfrm>
            <a:off x="1355614" y="5189994"/>
            <a:ext cx="288775" cy="306752"/>
          </a:xfrm>
          <a:prstGeom prst="star6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9913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6154-1808-1833-02F1-09EE13D6D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06776" y="612145"/>
            <a:ext cx="9604375" cy="1049338"/>
          </a:xfrm>
        </p:spPr>
        <p:txBody>
          <a:bodyPr/>
          <a:lstStyle/>
          <a:p>
            <a:r>
              <a:rPr lang="en-US" dirty="0"/>
              <a:t>Optimization: Ensemble </a:t>
            </a:r>
            <a:r>
              <a:rPr lang="en-TW" dirty="0"/>
              <a:t>Undersampling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9B28D3-DACB-AE3E-B2B5-9C20F1DC843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46605338"/>
              </p:ext>
            </p:extLst>
          </p:nvPr>
        </p:nvGraphicFramePr>
        <p:xfrm>
          <a:off x="1063625" y="2027238"/>
          <a:ext cx="9934575" cy="1851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FE46368-920A-C65A-74E2-3BE2786AFA49}"/>
              </a:ext>
            </a:extLst>
          </p:cNvPr>
          <p:cNvSpPr txBox="1"/>
          <p:nvPr/>
        </p:nvSpPr>
        <p:spPr>
          <a:xfrm>
            <a:off x="823425" y="1295727"/>
            <a:ext cx="10758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b="1" dirty="0"/>
              <a:t>To address the severe class imbalance (approx. 1:6 ratio), an Ensemble Undersampling strategy was implemented:</a:t>
            </a:r>
          </a:p>
          <a:p>
            <a:endParaRPr lang="en-TW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76F0B-6F9A-97A6-3773-EC03BFC841DD}"/>
              </a:ext>
            </a:extLst>
          </p:cNvPr>
          <p:cNvSpPr txBox="1"/>
          <p:nvPr/>
        </p:nvSpPr>
        <p:spPr>
          <a:xfrm>
            <a:off x="823425" y="4170882"/>
            <a:ext cx="5907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TW" b="1" i="0" baseline="0" dirty="0"/>
              <a:t>Observation</a:t>
            </a:r>
            <a:r>
              <a:rPr lang="en-TW" b="0" i="0" baseline="0" dirty="0"/>
              <a:t>: This approach improved model stability and generalization. While the improvement over a single CatBoost model was marginal, it ensured a more comprehensive learning of the majority class distribution.</a:t>
            </a:r>
            <a:endParaRPr lang="en-TW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17E78DE-8E14-B96B-09C6-BC3094CDB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507227"/>
              </p:ext>
            </p:extLst>
          </p:nvPr>
        </p:nvGraphicFramePr>
        <p:xfrm>
          <a:off x="7262372" y="4039200"/>
          <a:ext cx="3164328" cy="1463695"/>
        </p:xfrm>
        <a:graphic>
          <a:graphicData uri="http://schemas.openxmlformats.org/drawingml/2006/table">
            <a:tbl>
              <a:tblPr/>
              <a:tblGrid>
                <a:gridCol w="1038072">
                  <a:extLst>
                    <a:ext uri="{9D8B030D-6E8A-4147-A177-3AD203B41FA5}">
                      <a16:colId xmlns:a16="http://schemas.microsoft.com/office/drawing/2014/main" val="2122366331"/>
                    </a:ext>
                  </a:extLst>
                </a:gridCol>
                <a:gridCol w="1063128">
                  <a:extLst>
                    <a:ext uri="{9D8B030D-6E8A-4147-A177-3AD203B41FA5}">
                      <a16:colId xmlns:a16="http://schemas.microsoft.com/office/drawing/2014/main" val="208554678"/>
                    </a:ext>
                  </a:extLst>
                </a:gridCol>
                <a:gridCol w="1063128">
                  <a:extLst>
                    <a:ext uri="{9D8B030D-6E8A-4147-A177-3AD203B41FA5}">
                      <a16:colId xmlns:a16="http://schemas.microsoft.com/office/drawing/2014/main" val="1771882554"/>
                    </a:ext>
                  </a:extLst>
                </a:gridCol>
              </a:tblGrid>
              <a:tr h="2162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br>
                        <a:rPr lang="en-US" sz="1200" b="0" i="0" u="none" strike="noStrike" dirty="0">
                          <a:effectLst/>
                          <a:latin typeface="Helvetica" panose="020B0604020202020204" pitchFamily="34" charset="0"/>
                        </a:rPr>
                      </a:b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2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Original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2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Ensemble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693527"/>
                  </a:ext>
                </a:extLst>
              </a:tr>
              <a:tr h="202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F1 Score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0.61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0.6289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994551"/>
                  </a:ext>
                </a:extLst>
              </a:tr>
              <a:tr h="202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Precision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0.55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0.5435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35080"/>
                  </a:ext>
                </a:extLst>
              </a:tr>
              <a:tr h="202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Recall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</a:rPr>
                        <a:t>0.70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Helvetica Neue" panose="02000503000000020004"/>
                        </a:rPr>
                        <a:t>0.7463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55402"/>
                  </a:ext>
                </a:extLst>
              </a:tr>
              <a:tr h="34683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AUC Score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0.9092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 panose="02000503000000020004"/>
                        </a:rPr>
                        <a:t>0.9090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5308" marR="25308" marT="25308" marB="25308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78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592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9AE8-719D-179F-6DDD-9A817F51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Results and Analysis</a:t>
            </a:r>
            <a:endParaRPr lang="en-TW" dirty="0"/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0D4FFE6C-57F8-FB20-1E02-2DD1C136A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0462" y="2277991"/>
            <a:ext cx="2926098" cy="292609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D577F34-4C04-7ADD-C35E-D2ABA4BA14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9070" y="2015734"/>
            <a:ext cx="6195784" cy="34506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TW" altLang="en-TW" sz="1700" b="1" dirty="0">
                <a:latin typeface="Arial" panose="020B0604020202020204" pitchFamily="34" charset="0"/>
              </a:rPr>
              <a:t>Model Performance Metrics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TW" altLang="en-TW" sz="1700" b="1" dirty="0">
                <a:latin typeface="Arial" panose="020B0604020202020204" pitchFamily="34" charset="0"/>
              </a:rPr>
              <a:t>Recall Rate: 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TW" altLang="en-TW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Achieved the highest level using the </a:t>
            </a:r>
            <a:r>
              <a:rPr kumimoji="0" lang="en-TW" altLang="en-TW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CatBoost</a:t>
            </a:r>
            <a:r>
              <a:rPr kumimoji="0" lang="en-TW" altLang="en-TW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Ensemble, successfully identifying the vast majority of potential responders.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W" altLang="en-TW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AUC Score</a:t>
            </a:r>
            <a:r>
              <a:rPr kumimoji="0" lang="en-TW" altLang="en-TW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TW" altLang="en-TW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Consistently maintained above </a:t>
            </a:r>
            <a:r>
              <a:rPr kumimoji="0" lang="en-TW" altLang="en-TW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0.90</a:t>
            </a:r>
            <a:r>
              <a:rPr kumimoji="0" lang="en-TW" altLang="en-TW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proving excellent discriminatory power.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TW" altLang="en-TW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Confusion Matrix Analysis</a:t>
            </a:r>
            <a:r>
              <a:rPr kumimoji="0" lang="en-TW" altLang="en-TW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kumimoji="0" lang="en-TW" altLang="en-TW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 the assumption of an "ample budget," we successfully optimized for the "Cost of Omission," accepting a higher number of False Positives to ensure the lowest possible False Negatives.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TW" altLang="en-TW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36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0DC75-B2C0-DC39-FD56-739BDDE47C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3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D82FD-2BD9-3A66-7BA4-B7D412F69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/>
              <a:t>Key Success Factors (Feature Importance)</a:t>
            </a:r>
            <a:endParaRPr lang="en-TW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D9BE-A25D-3913-411C-B8840334B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The Top 3 drivers</a:t>
            </a:r>
          </a:p>
          <a:p>
            <a:pPr lvl="1"/>
            <a:r>
              <a:rPr lang="en-US" dirty="0"/>
              <a:t>Recency</a:t>
            </a:r>
          </a:p>
          <a:p>
            <a:pPr lvl="1"/>
            <a:r>
              <a:rPr lang="en-US" dirty="0"/>
              <a:t>Customer Days</a:t>
            </a:r>
          </a:p>
          <a:p>
            <a:pPr lvl="1"/>
            <a:r>
              <a:rPr lang="en-US" dirty="0"/>
              <a:t>Accepted Any Comp Before</a:t>
            </a:r>
            <a:endParaRPr lang="en-TW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052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CD7B-4BA5-57E6-68E1-AC171CEB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Conclusion &amp; Action Plan</a:t>
            </a:r>
            <a:endParaRPr lang="en-TW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5508081-1570-A484-3894-11B83ABFDD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27060"/>
              </p:ext>
            </p:extLst>
          </p:nvPr>
        </p:nvGraphicFramePr>
        <p:xfrm>
          <a:off x="1451579" y="1986455"/>
          <a:ext cx="9466137" cy="3509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47941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1504</TotalTime>
  <Words>746</Words>
  <Application>Microsoft Macintosh PowerPoint</Application>
  <PresentationFormat>Widescreen</PresentationFormat>
  <Paragraphs>102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Cambria Math</vt:lpstr>
      <vt:lpstr>Gill Sans MT</vt:lpstr>
      <vt:lpstr>Helvetica</vt:lpstr>
      <vt:lpstr>Helvetica Neue</vt:lpstr>
      <vt:lpstr>Gallery</vt:lpstr>
      <vt:lpstr>iFood Marketing Prediction Model</vt:lpstr>
      <vt:lpstr>Executive Summary</vt:lpstr>
      <vt:lpstr>Execution Process - Data Exploration &amp; Pre-processing (EDA)</vt:lpstr>
      <vt:lpstr>Model Selection</vt:lpstr>
      <vt:lpstr>Why Recall Rate? Why CatBoost? (1/2)</vt:lpstr>
      <vt:lpstr>Why Recall Rate? Why CatBoost? (2/2)</vt:lpstr>
      <vt:lpstr>Optimization: Ensemble Undersampling</vt:lpstr>
      <vt:lpstr>Results and Analysis</vt:lpstr>
      <vt:lpstr>Key Success Factors (Feature Importance)</vt:lpstr>
      <vt:lpstr>Conclusion &amp;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 Chen Chang</dc:creator>
  <cp:lastModifiedBy>Wen Chen Chang</cp:lastModifiedBy>
  <cp:revision>4</cp:revision>
  <dcterms:created xsi:type="dcterms:W3CDTF">2026-02-04T10:13:58Z</dcterms:created>
  <dcterms:modified xsi:type="dcterms:W3CDTF">2026-02-05T11:18:26Z</dcterms:modified>
</cp:coreProperties>
</file>